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14E146-E558-4192-9266-B1ADC1907BC7}" v="2" dt="2026-09-19T04:42:53.1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799" autoAdjust="0"/>
    <p:restoredTop sz="94660"/>
  </p:normalViewPr>
  <p:slideViewPr>
    <p:cSldViewPr snapToGrid="0" snapToObjects="1">
      <p:cViewPr varScale="1">
        <p:scale>
          <a:sx n="35" d="100"/>
          <a:sy n="35" d="100"/>
        </p:scale>
        <p:origin x="1046" y="2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eehari B" userId="9383b3be0e9cb512" providerId="LiveId" clId="{80E9C2F6-5350-4C2A-B633-CDC2E930492B}"/>
    <pc:docChg chg="undo custSel modSld">
      <pc:chgData name="Sreehari B" userId="9383b3be0e9cb512" providerId="LiveId" clId="{80E9C2F6-5350-4C2A-B633-CDC2E930492B}" dt="2026-09-19T04:43:05.396" v="3" actId="478"/>
      <pc:docMkLst>
        <pc:docMk/>
      </pc:docMkLst>
      <pc:sldChg chg="addSp delSp mod">
        <pc:chgData name="Sreehari B" userId="9383b3be0e9cb512" providerId="LiveId" clId="{80E9C2F6-5350-4C2A-B633-CDC2E930492B}" dt="2026-09-19T04:43:05.396" v="3" actId="478"/>
        <pc:sldMkLst>
          <pc:docMk/>
          <pc:sldMk cId="0" sldId="270"/>
        </pc:sldMkLst>
        <pc:spChg chg="add del">
          <ac:chgData name="Sreehari B" userId="9383b3be0e9cb512" providerId="LiveId" clId="{80E9C2F6-5350-4C2A-B633-CDC2E930492B}" dt="2026-09-19T04:43:05.396" v="3" actId="478"/>
          <ac:spMkLst>
            <pc:docMk/>
            <pc:sldMk cId="0" sldId="270"/>
            <ac:spMk id="2" creationId="{00000000-0000-0000-0000-000000000000}"/>
          </ac:spMkLst>
        </pc:spChg>
        <pc:spChg chg="add del">
          <ac:chgData name="Sreehari B" userId="9383b3be0e9cb512" providerId="LiveId" clId="{80E9C2F6-5350-4C2A-B633-CDC2E930492B}" dt="2026-09-19T04:43:04.998" v="2" actId="478"/>
          <ac:spMkLst>
            <pc:docMk/>
            <pc:sldMk cId="0" sldId="270"/>
            <ac:spMk id="6"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371600" y="1097280"/>
            <a:ext cx="9448495" cy="466344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1645920"/>
            <a:ext cx="8534095" cy="3474720"/>
          </a:xfrm>
          <a:prstGeom prst="rect">
            <a:avLst/>
          </a:prstGeom>
          <a:noFill/>
        </p:spPr>
        <p:txBody>
          <a:bodyPr wrap="square">
            <a:spAutoFit/>
          </a:bodyPr>
          <a:lstStyle/>
          <a:p>
            <a:pPr algn="ctr">
              <a:defRPr sz="1300" b="1">
                <a:solidFill>
                  <a:srgbClr val="0EA5E9"/>
                </a:solidFill>
              </a:defRPr>
            </a:pPr>
            <a:r>
              <a:t>BYTEFORGE 2026 | HACKATHON STAGE 2</a:t>
            </a:r>
          </a:p>
          <a:p>
            <a:pPr algn="ctr">
              <a:defRPr sz="4000" b="1">
                <a:solidFill>
                  <a:srgbClr val="F8FAFC"/>
                </a:solidFill>
              </a:defRPr>
            </a:pPr>
            <a:r>
              <a:t>EDUSYNC  ×  TRIPWIRE</a:t>
            </a:r>
          </a:p>
          <a:p>
            <a:pPr algn="ctr">
              <a:defRPr sz="1600">
                <a:solidFill>
                  <a:srgbClr val="6366F1"/>
                </a:solidFill>
              </a:defRPr>
            </a:pPr>
            <a:r>
              <a:t>The Unified Smart Campus Operating System with Real-Time Behavioral Drift Intelligence</a:t>
            </a:r>
          </a:p>
          <a:p>
            <a:pPr algn="ctr">
              <a:defRPr sz="1300" i="1">
                <a:solidFill>
                  <a:srgbClr val="94A3B8"/>
                </a:solidFill>
              </a:defRPr>
            </a:pPr>
            <a:br/>
            <a:r>
              <a:t>"From Paper Chits to Instant Verification; From Academic Failure to Proactive Recovery"</a:t>
            </a:r>
          </a:p>
          <a:p>
            <a:pPr algn="ctr">
              <a:defRPr sz="1100">
                <a:solidFill>
                  <a:srgbClr val="10B981"/>
                </a:solidFill>
              </a:defRPr>
            </a:pPr>
            <a:br/>
            <a:r>
              <a:t>Institutional Deployment: TKM Institute of Technology (TKMIT) | APJ Abdul Kalam Technological University (KTU)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1. PROBLEM STATEMENT</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The Dual Campus Crisis: Administrative Bottlenecks &amp; The Silent Dropout Funnel</a:t>
            </a:r>
          </a:p>
          <a:p>
            <a:pPr>
              <a:defRPr sz="1200">
                <a:solidFill>
                  <a:srgbClr val="94A3B8"/>
                </a:solidFill>
              </a:defRPr>
            </a:pPr>
            <a:r>
              <a:t>Why higher-education institutions struggle with operational gridlock and late academic intervention.</a:t>
            </a:r>
          </a:p>
        </p:txBody>
      </p:sp>
      <p:sp>
        <p:nvSpPr>
          <p:cNvPr id="5" name="Rounded Rectangle 4"/>
          <p:cNvSpPr/>
          <p:nvPr/>
        </p:nvSpPr>
        <p:spPr>
          <a:xfrm>
            <a:off x="731520" y="1463040"/>
            <a:ext cx="5120640" cy="4663440"/>
          </a:xfrm>
          <a:prstGeom prst="roundRect">
            <a:avLst/>
          </a:prstGeom>
          <a:solidFill>
            <a:srgbClr val="131A2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645920"/>
            <a:ext cx="4572000" cy="4206240"/>
          </a:xfrm>
          <a:prstGeom prst="rect">
            <a:avLst/>
          </a:prstGeom>
          <a:noFill/>
        </p:spPr>
        <p:txBody>
          <a:bodyPr wrap="square">
            <a:spAutoFit/>
          </a:bodyPr>
          <a:lstStyle/>
          <a:p>
            <a:pPr>
              <a:defRPr sz="1600" b="1">
                <a:solidFill>
                  <a:srgbClr val="EF4444"/>
                </a:solidFill>
              </a:defRPr>
            </a:pPr>
            <a:r>
              <a:t>CRISIS 1: Administrative Paper Gridlock</a:t>
            </a:r>
          </a:p>
          <a:p>
            <a:pPr>
              <a:defRPr sz="1100" b="1">
                <a:solidFill>
                  <a:srgbClr val="F8FAFC"/>
                </a:solidFill>
              </a:defRPr>
            </a:pPr>
            <a:r>
              <a:t>• Manual Signature Chasing: </a:t>
            </a:r>
          </a:p>
          <a:p>
            <a:pPr>
              <a:defRPr sz="1000">
                <a:solidFill>
                  <a:srgbClr val="94A3B8"/>
                </a:solidFill>
              </a:defRPr>
            </a:pPr>
            <a:r>
              <a:t>  Students lose 3–5 days per semester physically collecting stamps across campus blocks from Faculty Advisors, HODs, Office Staff, and Principal.</a:t>
            </a:r>
          </a:p>
          <a:p>
            <a:pPr>
              <a:defRPr sz="1100" b="1">
                <a:solidFill>
                  <a:srgbClr val="F8FAFC"/>
                </a:solidFill>
              </a:defRPr>
            </a:pPr>
            <a:r>
              <a:t>• Duty Leave Friction: </a:t>
            </a:r>
          </a:p>
          <a:p>
            <a:pPr>
              <a:defRPr sz="1000">
                <a:solidFill>
                  <a:srgbClr val="94A3B8"/>
                </a:solidFill>
              </a:defRPr>
            </a:pPr>
            <a:r>
              <a:t>  Extracurricular achievers representing colleges in hackathons or sports face severe attendance penalties due to delayed or lost paper approval slips.</a:t>
            </a:r>
          </a:p>
          <a:p>
            <a:pPr>
              <a:defRPr sz="1100" b="1">
                <a:solidFill>
                  <a:srgbClr val="F8FAFC"/>
                </a:solidFill>
              </a:defRPr>
            </a:pPr>
            <a:r>
              <a:t>• Office Queue Congestion: </a:t>
            </a:r>
          </a:p>
          <a:p>
            <a:pPr>
              <a:defRPr sz="1000">
                <a:solidFill>
                  <a:srgbClr val="94A3B8"/>
                </a:solidFill>
              </a:defRPr>
            </a:pPr>
            <a:r>
              <a:t>  Bonafide certificates, fee dues clearances, and hostel out-passes require long physical lines and manual clerical verification.</a:t>
            </a:r>
          </a:p>
          <a:p>
            <a:pPr>
              <a:defRPr sz="1100" b="1">
                <a:solidFill>
                  <a:srgbClr val="F8FAFC"/>
                </a:solidFill>
              </a:defRPr>
            </a:pPr>
            <a:r>
              <a:t>• Paper Vulnerability: </a:t>
            </a:r>
          </a:p>
          <a:p>
            <a:pPr>
              <a:defRPr sz="1000">
                <a:solidFill>
                  <a:srgbClr val="94A3B8"/>
                </a:solidFill>
              </a:defRPr>
            </a:pPr>
            <a:r>
              <a:t>  Physical slips are easily misplaced, forged, or unrecorded, causing compliance chaos during semester university audits.</a:t>
            </a:r>
          </a:p>
        </p:txBody>
      </p:sp>
      <p:sp>
        <p:nvSpPr>
          <p:cNvPr id="7" name="Rounded Rectangle 6"/>
          <p:cNvSpPr/>
          <p:nvPr/>
        </p:nvSpPr>
        <p:spPr>
          <a:xfrm>
            <a:off x="6309360" y="1463040"/>
            <a:ext cx="5120640" cy="466344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645920"/>
            <a:ext cx="4572000" cy="4206240"/>
          </a:xfrm>
          <a:prstGeom prst="rect">
            <a:avLst/>
          </a:prstGeom>
          <a:noFill/>
        </p:spPr>
        <p:txBody>
          <a:bodyPr wrap="square">
            <a:spAutoFit/>
          </a:bodyPr>
          <a:lstStyle/>
          <a:p>
            <a:pPr>
              <a:defRPr sz="1600" b="1">
                <a:solidFill>
                  <a:srgbClr val="F59E0B"/>
                </a:solidFill>
              </a:defRPr>
            </a:pPr>
            <a:r>
              <a:t>CRISIS 2: The Late-Detection Attrition Trap</a:t>
            </a:r>
          </a:p>
          <a:p>
            <a:pPr>
              <a:defRPr sz="1100" b="1">
                <a:solidFill>
                  <a:srgbClr val="F8FAFC"/>
                </a:solidFill>
              </a:defRPr>
            </a:pPr>
            <a:r>
              <a:t>• The 75% Statutory Cutoff: </a:t>
            </a:r>
          </a:p>
          <a:p>
            <a:pPr>
              <a:defRPr sz="1000">
                <a:solidFill>
                  <a:srgbClr val="94A3B8"/>
                </a:solidFill>
              </a:defRPr>
            </a:pPr>
            <a:r>
              <a:t>  Under university rules (KTU), &lt;75% attendance leads to condonation fines (60–74%) or year-back debarment (&lt;60%).</a:t>
            </a:r>
          </a:p>
          <a:p>
            <a:pPr>
              <a:defRPr sz="1100" b="1">
                <a:solidFill>
                  <a:srgbClr val="F8FAFC"/>
                </a:solidFill>
              </a:defRPr>
            </a:pPr>
            <a:r>
              <a:t>• Purely Reactive Portals: </a:t>
            </a:r>
          </a:p>
          <a:p>
            <a:pPr>
              <a:defRPr sz="1000">
                <a:solidFill>
                  <a:srgbClr val="94A3B8"/>
                </a:solidFill>
              </a:defRPr>
            </a:pPr>
            <a:r>
              <a:t>  Legacy ERPs only display passive historical numbers. Students discover debarment 48 hours before exams when hall tickets are blocked.</a:t>
            </a:r>
          </a:p>
          <a:p>
            <a:pPr>
              <a:defRPr sz="1100" b="1">
                <a:solidFill>
                  <a:srgbClr val="F8FAFC"/>
                </a:solidFill>
              </a:defRPr>
            </a:pPr>
            <a:r>
              <a:t>• The 'Silent Drift' Phenomenon: </a:t>
            </a:r>
          </a:p>
          <a:p>
            <a:pPr>
              <a:defRPr sz="1000">
                <a:solidFill>
                  <a:srgbClr val="94A3B8"/>
                </a:solidFill>
              </a:defRPr>
            </a:pPr>
            <a:r>
              <a:t>  Students disengage quietly 3 to 4 weeks before grades fall—skipping morning lectures, submitting labs 18h late, reducing LMS access.</a:t>
            </a:r>
          </a:p>
          <a:p>
            <a:pPr>
              <a:defRPr sz="1100" b="1">
                <a:solidFill>
                  <a:srgbClr val="F8FAFC"/>
                </a:solidFill>
              </a:defRPr>
            </a:pPr>
            <a:r>
              <a:t>• Blind Triage for Faculty: </a:t>
            </a:r>
          </a:p>
          <a:p>
            <a:pPr>
              <a:defRPr sz="1000">
                <a:solidFill>
                  <a:srgbClr val="94A3B8"/>
                </a:solidFill>
              </a:defRPr>
            </a:pPr>
            <a:r>
              <a:t>  In cohorts of 60–120 students, mentors cannot manually connect multi-modal behavioral signals until it is mathematically too late to recover.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2. TARGET USERS / STAKEHOLDERS</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Whole-Campus Inclusivity: A Multi-Tiered Stakeholder Ecosystem</a:t>
            </a:r>
          </a:p>
          <a:p>
            <a:pPr>
              <a:defRPr sz="1200">
                <a:solidFill>
                  <a:srgbClr val="94A3B8"/>
                </a:solidFill>
              </a:defRPr>
            </a:pPr>
            <a:r>
              <a:t>Empowering every persona in the academic lifecycle with specialized digital tools.</a:t>
            </a:r>
          </a:p>
        </p:txBody>
      </p:sp>
      <p:sp>
        <p:nvSpPr>
          <p:cNvPr id="5" name="Rounded Rectangle 4"/>
          <p:cNvSpPr/>
          <p:nvPr/>
        </p:nvSpPr>
        <p:spPr>
          <a:xfrm>
            <a:off x="731520" y="1463040"/>
            <a:ext cx="10728655" cy="86868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536192"/>
            <a:ext cx="10149840" cy="731520"/>
          </a:xfrm>
          <a:prstGeom prst="rect">
            <a:avLst/>
          </a:prstGeom>
          <a:noFill/>
        </p:spPr>
        <p:txBody>
          <a:bodyPr wrap="square">
            <a:spAutoFit/>
          </a:bodyPr>
          <a:lstStyle/>
          <a:p>
            <a:pPr>
              <a:defRPr sz="1300" b="1">
                <a:solidFill>
                  <a:srgbClr val="6366F1"/>
                </a:solidFill>
              </a:defRPr>
            </a:pPr>
            <a:r>
              <a:t>Students (UG &amp; PG)</a:t>
            </a:r>
          </a:p>
          <a:p>
            <a:pPr>
              <a:defRPr sz="950">
                <a:solidFill>
                  <a:srgbClr val="94A3B8"/>
                </a:solidFill>
              </a:defRPr>
            </a:pPr>
            <a:r>
              <a:t>Friction: Paper signature chasing, sudden exam debarment shock, opaque university ordinances.</a:t>
            </a:r>
            <a:br/>
            <a:r>
              <a:t>Solution: 1-click digital leave requests, QR passes, 'What-If' grade/attendance simulators, 24/7 AI Ordinance guidance.</a:t>
            </a:r>
          </a:p>
        </p:txBody>
      </p:sp>
      <p:sp>
        <p:nvSpPr>
          <p:cNvPr id="7" name="Rounded Rectangle 6"/>
          <p:cNvSpPr/>
          <p:nvPr/>
        </p:nvSpPr>
        <p:spPr>
          <a:xfrm>
            <a:off x="731520" y="2423160"/>
            <a:ext cx="10728655" cy="86868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496312"/>
            <a:ext cx="10149840" cy="731520"/>
          </a:xfrm>
          <a:prstGeom prst="rect">
            <a:avLst/>
          </a:prstGeom>
          <a:noFill/>
        </p:spPr>
        <p:txBody>
          <a:bodyPr wrap="square">
            <a:spAutoFit/>
          </a:bodyPr>
          <a:lstStyle/>
          <a:p>
            <a:pPr>
              <a:defRPr sz="1300" b="1">
                <a:solidFill>
                  <a:srgbClr val="0EA5E9"/>
                </a:solidFill>
              </a:defRPr>
            </a:pPr>
            <a:r>
              <a:t>Faculty Advisors / Mentors</a:t>
            </a:r>
          </a:p>
          <a:p>
            <a:pPr>
              <a:defRPr sz="950">
                <a:solidFill>
                  <a:srgbClr val="94A3B8"/>
                </a:solidFill>
              </a:defRPr>
            </a:pPr>
            <a:r>
              <a:t>Friction: Drowning in paper approvals, manual attendance math, blind to quiet student disengagement.</a:t>
            </a:r>
            <a:br/>
            <a:r>
              <a:t>Solution: 1-click tiered approvals, real-time cohort batch attendance register, automated behavioral drift alerts.</a:t>
            </a:r>
          </a:p>
        </p:txBody>
      </p:sp>
      <p:sp>
        <p:nvSpPr>
          <p:cNvPr id="9" name="Rounded Rectangle 8"/>
          <p:cNvSpPr/>
          <p:nvPr/>
        </p:nvSpPr>
        <p:spPr>
          <a:xfrm>
            <a:off x="731520" y="3383280"/>
            <a:ext cx="10728655" cy="868680"/>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3456432"/>
            <a:ext cx="10149840" cy="731520"/>
          </a:xfrm>
          <a:prstGeom prst="rect">
            <a:avLst/>
          </a:prstGeom>
          <a:noFill/>
        </p:spPr>
        <p:txBody>
          <a:bodyPr wrap="square">
            <a:spAutoFit/>
          </a:bodyPr>
          <a:lstStyle/>
          <a:p>
            <a:pPr>
              <a:defRPr sz="1300" b="1">
                <a:solidFill>
                  <a:srgbClr val="10B981"/>
                </a:solidFill>
              </a:defRPr>
            </a:pPr>
            <a:r>
              <a:t>Heads of Dept &amp; Principal</a:t>
            </a:r>
          </a:p>
          <a:p>
            <a:pPr>
              <a:defRPr sz="950">
                <a:solidFill>
                  <a:srgbClr val="94A3B8"/>
                </a:solidFill>
              </a:defRPr>
            </a:pPr>
            <a:r>
              <a:t>Friction: Lack of departmental oversight, compliance risks, manual paper audit trails.</a:t>
            </a:r>
            <a:br/>
            <a:r>
              <a:t>Solution: Executive dashboard with cohort risk heatmaps, institutional analytics, single-click leave audit compliance.</a:t>
            </a:r>
          </a:p>
        </p:txBody>
      </p:sp>
      <p:sp>
        <p:nvSpPr>
          <p:cNvPr id="11" name="Rounded Rectangle 10"/>
          <p:cNvSpPr/>
          <p:nvPr/>
        </p:nvSpPr>
        <p:spPr>
          <a:xfrm>
            <a:off x="731520" y="4343400"/>
            <a:ext cx="10728655" cy="86868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4416552"/>
            <a:ext cx="10149840" cy="731520"/>
          </a:xfrm>
          <a:prstGeom prst="rect">
            <a:avLst/>
          </a:prstGeom>
          <a:noFill/>
        </p:spPr>
        <p:txBody>
          <a:bodyPr wrap="square">
            <a:spAutoFit/>
          </a:bodyPr>
          <a:lstStyle/>
          <a:p>
            <a:pPr>
              <a:defRPr sz="1300" b="1">
                <a:solidFill>
                  <a:srgbClr val="F59E0B"/>
                </a:solidFill>
              </a:defRPr>
            </a:pPr>
            <a:r>
              <a:t>Industry Connect &amp; Placement</a:t>
            </a:r>
          </a:p>
          <a:p>
            <a:pPr>
              <a:defRPr sz="950">
                <a:solidFill>
                  <a:srgbClr val="94A3B8"/>
                </a:solidFill>
              </a:defRPr>
            </a:pPr>
            <a:r>
              <a:t>Friction: Sifting through hundreds of resume PDFs manually, unstandardized candidate matching.</a:t>
            </a:r>
            <a:br/>
            <a:r>
              <a:t>Solution: AI ATS Placement Studio with 100+ skill parsing, CGPA eligibility filters, automated drive shortlisting.</a:t>
            </a:r>
          </a:p>
        </p:txBody>
      </p:sp>
      <p:sp>
        <p:nvSpPr>
          <p:cNvPr id="13" name="Rounded Rectangle 12"/>
          <p:cNvSpPr/>
          <p:nvPr/>
        </p:nvSpPr>
        <p:spPr>
          <a:xfrm>
            <a:off x="731520" y="5303520"/>
            <a:ext cx="10728655" cy="868680"/>
          </a:xfrm>
          <a:prstGeom prst="roundRect">
            <a:avLst/>
          </a:prstGeom>
          <a:solidFill>
            <a:srgbClr val="131A2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5376672"/>
            <a:ext cx="10149840" cy="731520"/>
          </a:xfrm>
          <a:prstGeom prst="rect">
            <a:avLst/>
          </a:prstGeom>
          <a:noFill/>
        </p:spPr>
        <p:txBody>
          <a:bodyPr wrap="square">
            <a:spAutoFit/>
          </a:bodyPr>
          <a:lstStyle/>
          <a:p>
            <a:pPr>
              <a:defRPr sz="1300" b="1">
                <a:solidFill>
                  <a:srgbClr val="EF4444"/>
                </a:solidFill>
              </a:defRPr>
            </a:pPr>
            <a:r>
              <a:t>Admin Office &amp; Exam Cell</a:t>
            </a:r>
          </a:p>
          <a:p>
            <a:pPr>
              <a:defRPr sz="950">
                <a:solidFill>
                  <a:srgbClr val="94A3B8"/>
                </a:solidFill>
              </a:defRPr>
            </a:pPr>
            <a:r>
              <a:t>Friction: Manual queues for fee clearances, bonafide certificates, spreadsheet condonation errors.</a:t>
            </a:r>
            <a:br/>
            <a:r>
              <a:t>Solution: Digital clearance portal, cryptographic ZXing QR tokens, automated condonation calculation.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3. EXISTING GAPS &amp; LIMITATIONS</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Why Legacy College ERPs &amp; Generic Early Warning Systems Fail</a:t>
            </a:r>
          </a:p>
          <a:p>
            <a:pPr>
              <a:defRPr sz="1200">
                <a:solidFill>
                  <a:srgbClr val="94A3B8"/>
                </a:solidFill>
              </a:defRPr>
            </a:pPr>
            <a:r>
              <a:t>Four fundamental systemic blindspots in current higher-education software.</a:t>
            </a:r>
          </a:p>
        </p:txBody>
      </p:sp>
      <p:sp>
        <p:nvSpPr>
          <p:cNvPr id="5" name="Rounded Rectangle 4"/>
          <p:cNvSpPr/>
          <p:nvPr/>
        </p:nvSpPr>
        <p:spPr>
          <a:xfrm>
            <a:off x="731520" y="1463040"/>
            <a:ext cx="5257800" cy="2194560"/>
          </a:xfrm>
          <a:prstGeom prst="roundRect">
            <a:avLst/>
          </a:prstGeom>
          <a:solidFill>
            <a:srgbClr val="131A2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00200"/>
            <a:ext cx="4800600" cy="1920240"/>
          </a:xfrm>
          <a:prstGeom prst="rect">
            <a:avLst/>
          </a:prstGeom>
          <a:noFill/>
        </p:spPr>
        <p:txBody>
          <a:bodyPr wrap="square">
            <a:spAutoFit/>
          </a:bodyPr>
          <a:lstStyle/>
          <a:p>
            <a:pPr>
              <a:defRPr sz="1300" b="1">
                <a:solidFill>
                  <a:srgbClr val="F8FAFC"/>
                </a:solidFill>
              </a:defRPr>
            </a:pPr>
            <a:r>
              <a:t>1. Passive Digital Ledgers, Not Workflows</a:t>
            </a:r>
          </a:p>
          <a:p>
            <a:br/>
            <a:r>
              <a:t>Existing campus software acts merely as a database. Even when installed, a duty leave or medical certificate still requires physical paper slips hand-carried across offices. There is zero automated multi-tier routing.</a:t>
            </a:r>
          </a:p>
        </p:txBody>
      </p:sp>
      <p:sp>
        <p:nvSpPr>
          <p:cNvPr id="7" name="Rounded Rectangle 6"/>
          <p:cNvSpPr/>
          <p:nvPr/>
        </p:nvSpPr>
        <p:spPr>
          <a:xfrm>
            <a:off x="6172200" y="1463040"/>
            <a:ext cx="5257800" cy="219456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600200"/>
            <a:ext cx="4800600" cy="1920240"/>
          </a:xfrm>
          <a:prstGeom prst="rect">
            <a:avLst/>
          </a:prstGeom>
          <a:noFill/>
        </p:spPr>
        <p:txBody>
          <a:bodyPr wrap="square">
            <a:spAutoFit/>
          </a:bodyPr>
          <a:lstStyle/>
          <a:p>
            <a:pPr>
              <a:defRPr sz="1300" b="1">
                <a:solidFill>
                  <a:srgbClr val="F8FAFC"/>
                </a:solidFill>
              </a:defRPr>
            </a:pPr>
            <a:r>
              <a:t>2. Disconnected Duty Leaves &amp; False Penalties</a:t>
            </a:r>
          </a:p>
          <a:p>
            <a:br/>
            <a:r>
              <a:t>Legacy portals record hackathon and sports participation as absences first. Because leave approvals take weeks to reflect, students representing their college suffer false attendance penalties and blocked hall tickets.</a:t>
            </a:r>
          </a:p>
        </p:txBody>
      </p:sp>
      <p:sp>
        <p:nvSpPr>
          <p:cNvPr id="9" name="Rounded Rectangle 8"/>
          <p:cNvSpPr/>
          <p:nvPr/>
        </p:nvSpPr>
        <p:spPr>
          <a:xfrm>
            <a:off x="731520" y="3840480"/>
            <a:ext cx="5257800" cy="2194560"/>
          </a:xfrm>
          <a:prstGeom prst="roundRect">
            <a:avLst/>
          </a:prstGeom>
          <a:solidFill>
            <a:srgbClr val="131A2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3977640"/>
            <a:ext cx="4800600" cy="1920240"/>
          </a:xfrm>
          <a:prstGeom prst="rect">
            <a:avLst/>
          </a:prstGeom>
          <a:noFill/>
        </p:spPr>
        <p:txBody>
          <a:bodyPr wrap="square">
            <a:spAutoFit/>
          </a:bodyPr>
          <a:lstStyle/>
          <a:p>
            <a:pPr>
              <a:defRPr sz="1300" b="1">
                <a:solidFill>
                  <a:srgbClr val="F8FAFC"/>
                </a:solidFill>
              </a:defRPr>
            </a:pPr>
            <a:r>
              <a:t>3. Blunt 75% Cutoffs vs. Personal Velocity</a:t>
            </a:r>
          </a:p>
          <a:p>
            <a:br/>
            <a:r>
              <a:t>Conventional systems evaluate absolute thresholds only. They miss an honors student whose attendance just plummeted from 96% to 76% (an acute crisis), while constantly red-flagging students whose baseline is 73%.</a:t>
            </a:r>
          </a:p>
        </p:txBody>
      </p:sp>
      <p:sp>
        <p:nvSpPr>
          <p:cNvPr id="11" name="Rounded Rectangle 10"/>
          <p:cNvSpPr/>
          <p:nvPr/>
        </p:nvSpPr>
        <p:spPr>
          <a:xfrm>
            <a:off x="6172200" y="3840480"/>
            <a:ext cx="5257800" cy="219456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977640"/>
            <a:ext cx="4800600" cy="1920240"/>
          </a:xfrm>
          <a:prstGeom prst="rect">
            <a:avLst/>
          </a:prstGeom>
          <a:noFill/>
        </p:spPr>
        <p:txBody>
          <a:bodyPr wrap="square">
            <a:spAutoFit/>
          </a:bodyPr>
          <a:lstStyle/>
          <a:p>
            <a:pPr>
              <a:defRPr sz="1300" b="1">
                <a:solidFill>
                  <a:srgbClr val="F8FAFC"/>
                </a:solidFill>
              </a:defRPr>
            </a:pPr>
            <a:r>
              <a:t>4. Black-Box Opacity &amp; Failure to Close the Loop</a:t>
            </a:r>
          </a:p>
          <a:p>
            <a:br/>
            <a:r>
              <a:t>Generic ML algorithms spit out arbitrary risk scores ('0.82 High Risk') without explainability. Worse, they provide no actionable 'what-if' recovery guidance or structured mentor intervention tracking.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4. PROPOSED SOLUTION</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EduSync + Tripwire: The Unified Intelligent Campus Ecosystem</a:t>
            </a:r>
          </a:p>
          <a:p>
            <a:pPr>
              <a:defRPr sz="1200">
                <a:solidFill>
                  <a:srgbClr val="94A3B8"/>
                </a:solidFill>
              </a:defRPr>
            </a:pPr>
            <a:r>
              <a:t>Bridging administrative automation with real-time predictive behavioral analytics.</a:t>
            </a:r>
          </a:p>
        </p:txBody>
      </p:sp>
      <p:sp>
        <p:nvSpPr>
          <p:cNvPr id="5" name="Rounded Rectangle 4"/>
          <p:cNvSpPr/>
          <p:nvPr/>
        </p:nvSpPr>
        <p:spPr>
          <a:xfrm>
            <a:off x="731520" y="1463040"/>
            <a:ext cx="5212080" cy="466344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645920"/>
            <a:ext cx="4663440" cy="4297680"/>
          </a:xfrm>
          <a:prstGeom prst="rect">
            <a:avLst/>
          </a:prstGeom>
          <a:noFill/>
        </p:spPr>
        <p:txBody>
          <a:bodyPr wrap="square">
            <a:spAutoFit/>
          </a:bodyPr>
          <a:lstStyle/>
          <a:p>
            <a:pPr>
              <a:defRPr sz="1500" b="1">
                <a:solidFill>
                  <a:srgbClr val="6366F1"/>
                </a:solidFill>
              </a:defRPr>
            </a:pPr>
            <a:r>
              <a:t>EDUSYNC: Campus Governance Operating Core</a:t>
            </a:r>
          </a:p>
          <a:p>
            <a:br/>
            <a:r>
              <a:t>✔ Multi-Tier Digital Leave Engine: </a:t>
            </a:r>
          </a:p>
          <a:p>
            <a:pPr>
              <a:defRPr sz="1000">
                <a:solidFill>
                  <a:srgbClr val="94A3B8"/>
                </a:solidFill>
              </a:defRPr>
            </a:pPr>
            <a:r>
              <a:t>   3-tier approval hierarchy (Advisor -&gt; HOD -&gt; Principal) with tamper-proof cryptographic ZXing QR verification.</a:t>
            </a:r>
          </a:p>
          <a:p>
            <a:br/>
            <a:r>
              <a:t>✔ KTU Attendance &amp; CIE Calculator: </a:t>
            </a:r>
          </a:p>
          <a:p>
            <a:pPr>
              <a:defRPr sz="1000">
                <a:solidFill>
                  <a:srgbClr val="94A3B8"/>
                </a:solidFill>
              </a:defRPr>
            </a:pPr>
            <a:r>
              <a:t>   Automated Series Exams 1 &amp; 2, assignment weightings, and mathematical 'What-If' exam eligibility simulator.</a:t>
            </a:r>
          </a:p>
          <a:p>
            <a:br/>
            <a:r>
              <a:t>✔ Campus AI Copilot (Hybrid RAG): </a:t>
            </a:r>
          </a:p>
          <a:p>
            <a:pPr>
              <a:defRPr sz="1000">
                <a:solidFill>
                  <a:srgbClr val="94A3B8"/>
                </a:solidFill>
              </a:defRPr>
            </a:pPr>
            <a:r>
              <a:t>   Document-grounded assistant trained on 200+ page KTU ordinances, credit rules, and curriculum regulations.</a:t>
            </a:r>
          </a:p>
          <a:p>
            <a:br/>
            <a:r>
              <a:t>✔ AI ATS Placement Studio: </a:t>
            </a:r>
          </a:p>
          <a:p>
            <a:pPr>
              <a:defRPr sz="1000">
                <a:solidFill>
                  <a:srgbClr val="94A3B8"/>
                </a:solidFill>
              </a:defRPr>
            </a:pPr>
            <a:r>
              <a:t>   100+ technical skill matcher, CGPA filtering, and automated student-to-recruiter matching.</a:t>
            </a:r>
          </a:p>
        </p:txBody>
      </p:sp>
      <p:sp>
        <p:nvSpPr>
          <p:cNvPr id="7" name="Rounded Rectangle 6"/>
          <p:cNvSpPr/>
          <p:nvPr/>
        </p:nvSpPr>
        <p:spPr>
          <a:xfrm>
            <a:off x="6217920" y="1463040"/>
            <a:ext cx="5212080" cy="466344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1645920"/>
            <a:ext cx="4663440" cy="4297680"/>
          </a:xfrm>
          <a:prstGeom prst="rect">
            <a:avLst/>
          </a:prstGeom>
          <a:noFill/>
        </p:spPr>
        <p:txBody>
          <a:bodyPr wrap="square">
            <a:spAutoFit/>
          </a:bodyPr>
          <a:lstStyle/>
          <a:p>
            <a:pPr>
              <a:defRPr sz="1500" b="1">
                <a:solidFill>
                  <a:srgbClr val="0EA5E9"/>
                </a:solidFill>
              </a:defRPr>
            </a:pPr>
            <a:r>
              <a:t>TRIPWIRE: Behavioral Early-Warning Brain</a:t>
            </a:r>
          </a:p>
          <a:p>
            <a:br/>
            <a:r>
              <a:t>✔ Dynamic Velocity Index (DVI): </a:t>
            </a:r>
          </a:p>
          <a:p>
            <a:pPr>
              <a:defRPr sz="1000">
                <a:solidFill>
                  <a:srgbClr val="94A3B8"/>
                </a:solidFill>
              </a:defRPr>
            </a:pPr>
            <a:r>
              <a:t>   Unified 0–100 composite evaluating 40% Attendance, 35% Submission Latency, and 25% LMS Engagement relative to personal baseline.</a:t>
            </a:r>
          </a:p>
          <a:p>
            <a:br/>
            <a:r>
              <a:t>✔ EWMA Temporal Noise Smoothing: </a:t>
            </a:r>
          </a:p>
          <a:p>
            <a:pPr>
              <a:defRPr sz="1000">
                <a:solidFill>
                  <a:srgbClr val="94A3B8"/>
                </a:solidFill>
              </a:defRPr>
            </a:pPr>
            <a:r>
              <a:t>   Alpha=0.35 exponential smoothing filters out 1-day illnesses/transient drops while detecting sustained 2-week behavioral decline.</a:t>
            </a:r>
          </a:p>
          <a:p>
            <a:br/>
            <a:r>
              <a:t>✔ Approved Duty-Leave Masking: </a:t>
            </a:r>
          </a:p>
          <a:p>
            <a:pPr>
              <a:defRPr sz="1000">
                <a:solidFill>
                  <a:srgbClr val="94A3B8"/>
                </a:solidFill>
              </a:defRPr>
            </a:pPr>
            <a:r>
              <a:t>   Directly reads EduSync's sanctioned leaves, mathematically excluding hackathon and sports dates from attendance penalties!</a:t>
            </a:r>
          </a:p>
          <a:p>
            <a:br/>
            <a:r>
              <a:t>✔ Counterfactual XAI &amp; Closed Loop: </a:t>
            </a:r>
          </a:p>
          <a:p>
            <a:pPr>
              <a:defRPr sz="1000">
                <a:solidFill>
                  <a:srgbClr val="94A3B8"/>
                </a:solidFill>
              </a:defRPr>
            </a:pPr>
            <a:r>
              <a:t>   Generates exact mathematical recovery targets and tracks post-intervention student velocity through hysteresis recovery.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5. INNOVATION &amp; UNIQUE CONTRIBUTION</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Four Breakthrough Technical Innovations in Campus AI</a:t>
            </a:r>
          </a:p>
          <a:p>
            <a:pPr>
              <a:defRPr sz="1200">
                <a:solidFill>
                  <a:srgbClr val="94A3B8"/>
                </a:solidFill>
              </a:defRPr>
            </a:pPr>
            <a:r>
              <a:t>Engineered for institutional reality, mathematical rigor, and ethical fairness.</a:t>
            </a:r>
          </a:p>
        </p:txBody>
      </p:sp>
      <p:sp>
        <p:nvSpPr>
          <p:cNvPr id="5" name="Rounded Rectangle 4"/>
          <p:cNvSpPr/>
          <p:nvPr/>
        </p:nvSpPr>
        <p:spPr>
          <a:xfrm>
            <a:off x="731520" y="1463040"/>
            <a:ext cx="10728655" cy="1115568"/>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536192"/>
            <a:ext cx="10149840" cy="960120"/>
          </a:xfrm>
          <a:prstGeom prst="rect">
            <a:avLst/>
          </a:prstGeom>
          <a:noFill/>
        </p:spPr>
        <p:txBody>
          <a:bodyPr wrap="square">
            <a:spAutoFit/>
          </a:bodyPr>
          <a:lstStyle/>
          <a:p>
            <a:pPr>
              <a:defRPr sz="1300" b="1">
                <a:solidFill>
                  <a:srgbClr val="10B981"/>
                </a:solidFill>
              </a:defRPr>
            </a:pPr>
            <a:r>
              <a:t>1. Approved Duty-Leave Mathematical Masking</a:t>
            </a:r>
          </a:p>
          <a:p>
            <a:pPr>
              <a:defRPr sz="950">
                <a:solidFill>
                  <a:srgbClr val="F8FAFC"/>
                </a:solidFill>
              </a:defRPr>
            </a:pPr>
            <a:r>
              <a:t>Traditional EWS algorithms penalize student achievers who miss lectures for national hackathons or sports. EduSync + Tripwire directly connects the digital approval pipeline to the analytical engine: verified duty and medical leave dates are mathematically excluded from attendance drift calculations. Zero false positives for campus ambassadors.</a:t>
            </a:r>
          </a:p>
        </p:txBody>
      </p:sp>
      <p:sp>
        <p:nvSpPr>
          <p:cNvPr id="7" name="Rounded Rectangle 6"/>
          <p:cNvSpPr/>
          <p:nvPr/>
        </p:nvSpPr>
        <p:spPr>
          <a:xfrm>
            <a:off x="731520" y="2697480"/>
            <a:ext cx="10728655" cy="1115568"/>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770632"/>
            <a:ext cx="10149840" cy="960120"/>
          </a:xfrm>
          <a:prstGeom prst="rect">
            <a:avLst/>
          </a:prstGeom>
          <a:noFill/>
        </p:spPr>
        <p:txBody>
          <a:bodyPr wrap="square">
            <a:spAutoFit/>
          </a:bodyPr>
          <a:lstStyle/>
          <a:p>
            <a:pPr>
              <a:defRPr sz="1300" b="1">
                <a:solidFill>
                  <a:srgbClr val="6366F1"/>
                </a:solidFill>
              </a:defRPr>
            </a:pPr>
            <a:r>
              <a:t>2. EWMA Noise-Dampened Behavioral Velocity</a:t>
            </a:r>
          </a:p>
          <a:p>
            <a:pPr>
              <a:defRPr sz="950">
                <a:solidFill>
                  <a:srgbClr val="F8FAFC"/>
                </a:solidFill>
              </a:defRPr>
            </a:pPr>
            <a:r>
              <a:t>Rather than static grade cuts, Tripwire implements Exponentially Weighted Moving Average (EWMA) smoothing (alpha=0.35). An isolated 48-hour sickness will never trigger an alert, but progressive 2-week disengagement across attendance, assignment delays, and LMS access triggers early triage.</a:t>
            </a:r>
          </a:p>
        </p:txBody>
      </p:sp>
      <p:sp>
        <p:nvSpPr>
          <p:cNvPr id="9" name="Rounded Rectangle 8"/>
          <p:cNvSpPr/>
          <p:nvPr/>
        </p:nvSpPr>
        <p:spPr>
          <a:xfrm>
            <a:off x="731520" y="3931920"/>
            <a:ext cx="10728655" cy="1115568"/>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4005072"/>
            <a:ext cx="10149840" cy="960120"/>
          </a:xfrm>
          <a:prstGeom prst="rect">
            <a:avLst/>
          </a:prstGeom>
          <a:noFill/>
        </p:spPr>
        <p:txBody>
          <a:bodyPr wrap="square">
            <a:spAutoFit/>
          </a:bodyPr>
          <a:lstStyle/>
          <a:p>
            <a:pPr>
              <a:defRPr sz="1300" b="1">
                <a:solidFill>
                  <a:srgbClr val="0EA5E9"/>
                </a:solidFill>
              </a:defRPr>
            </a:pPr>
            <a:r>
              <a:t>3. Document-Grounded Campus RAG AI</a:t>
            </a:r>
          </a:p>
          <a:p>
            <a:pPr>
              <a:defRPr sz="950">
                <a:solidFill>
                  <a:srgbClr val="F8FAFC"/>
                </a:solidFill>
              </a:defRPr>
            </a:pPr>
            <a:r>
              <a:t>Generic chatbots hallucinate on institutional policies. EduSync integrates an in-memory TF-IDF semantic retrieval engine over actual KTU university ordinances, course syllabi, and circulars via Apache PDFBox, providing source-backed answers to credit and academic queries.</a:t>
            </a:r>
          </a:p>
        </p:txBody>
      </p:sp>
      <p:sp>
        <p:nvSpPr>
          <p:cNvPr id="11" name="Rounded Rectangle 10"/>
          <p:cNvSpPr/>
          <p:nvPr/>
        </p:nvSpPr>
        <p:spPr>
          <a:xfrm>
            <a:off x="731520" y="5166360"/>
            <a:ext cx="10728655" cy="1115568"/>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239512"/>
            <a:ext cx="10149840" cy="960120"/>
          </a:xfrm>
          <a:prstGeom prst="rect">
            <a:avLst/>
          </a:prstGeom>
          <a:noFill/>
        </p:spPr>
        <p:txBody>
          <a:bodyPr wrap="square">
            <a:spAutoFit/>
          </a:bodyPr>
          <a:lstStyle/>
          <a:p>
            <a:pPr>
              <a:defRPr sz="1300" b="1">
                <a:solidFill>
                  <a:srgbClr val="F59E0B"/>
                </a:solidFill>
              </a:defRPr>
            </a:pPr>
            <a:r>
              <a:t>4. Actionable Counterfactual Explainable AI (XAI)</a:t>
            </a:r>
          </a:p>
          <a:p>
            <a:pPr>
              <a:defRPr sz="950">
                <a:solidFill>
                  <a:srgbClr val="F8FAFC"/>
                </a:solidFill>
              </a:defRPr>
            </a:pPr>
            <a:r>
              <a:t>Instead of delivering opaque risk probability scores, Tripwire computes minimal actionable behavioral deltas: 'If Rahul attends next week's 4 lectures and submits Lab 2 on time, his DVI drops by 28 points, clearing the monitoring threshold.' Actionable pathways replace punitive condemnation.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6. SYSTEM / SOLUTION ARCHITECTURE</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End-to-End Enterprise Multi-Tier Campus Pipeline</a:t>
            </a:r>
          </a:p>
          <a:p>
            <a:pPr>
              <a:defRPr sz="1200">
                <a:solidFill>
                  <a:srgbClr val="94A3B8"/>
                </a:solidFill>
              </a:defRPr>
            </a:pPr>
            <a:r>
              <a:t>Seamless coordination across enterprise microservices, real-time analytics, and mobile clients.</a:t>
            </a:r>
          </a:p>
        </p:txBody>
      </p:sp>
      <p:sp>
        <p:nvSpPr>
          <p:cNvPr id="5" name="Rounded Rectangle 4"/>
          <p:cNvSpPr/>
          <p:nvPr/>
        </p:nvSpPr>
        <p:spPr>
          <a:xfrm>
            <a:off x="731520" y="1463040"/>
            <a:ext cx="2468880" cy="466344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45920"/>
            <a:ext cx="2194560" cy="4297680"/>
          </a:xfrm>
          <a:prstGeom prst="rect">
            <a:avLst/>
          </a:prstGeom>
          <a:noFill/>
        </p:spPr>
        <p:txBody>
          <a:bodyPr wrap="square">
            <a:spAutoFit/>
          </a:bodyPr>
          <a:lstStyle/>
          <a:p>
            <a:pPr algn="ctr">
              <a:defRPr sz="1300" b="1">
                <a:solidFill>
                  <a:srgbClr val="6366F1"/>
                </a:solidFill>
              </a:defRPr>
            </a:pPr>
            <a:r>
              <a:t>CLIENT TIER</a:t>
            </a:r>
          </a:p>
          <a:p>
            <a:pPr algn="ctr">
              <a:defRPr sz="1000">
                <a:solidFill>
                  <a:srgbClr val="F8FAFC"/>
                </a:solidFill>
              </a:defRPr>
            </a:pPr>
            <a:br/>
            <a:r>
              <a:t>React 18 + Vite Web App</a:t>
            </a:r>
          </a:p>
          <a:p>
            <a:pPr algn="ctr">
              <a:defRPr sz="1000">
                <a:solidFill>
                  <a:srgbClr val="F8FAFC"/>
                </a:solidFill>
              </a:defRPr>
            </a:pPr>
            <a:br/>
            <a:r>
              <a:t>Android APK via Capacitor</a:t>
            </a:r>
          </a:p>
          <a:p>
            <a:pPr algn="ctr">
              <a:defRPr sz="1000">
                <a:solidFill>
                  <a:srgbClr val="F8FAFC"/>
                </a:solidFill>
              </a:defRPr>
            </a:pPr>
            <a:br/>
            <a:r>
              <a:t>Glassmorphism UI System</a:t>
            </a:r>
          </a:p>
          <a:p>
            <a:pPr algn="ctr">
              <a:defRPr sz="1000">
                <a:solidFill>
                  <a:srgbClr val="F8FAFC"/>
                </a:solidFill>
              </a:defRPr>
            </a:pPr>
            <a:br/>
            <a:r>
              <a:t>Offline ZXing QR Scanner</a:t>
            </a:r>
          </a:p>
        </p:txBody>
      </p:sp>
      <p:sp>
        <p:nvSpPr>
          <p:cNvPr id="7" name="Rounded Rectangle 6"/>
          <p:cNvSpPr/>
          <p:nvPr/>
        </p:nvSpPr>
        <p:spPr>
          <a:xfrm>
            <a:off x="3429000" y="1463040"/>
            <a:ext cx="2560320" cy="466344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566160" y="1645920"/>
            <a:ext cx="2286000" cy="4297680"/>
          </a:xfrm>
          <a:prstGeom prst="rect">
            <a:avLst/>
          </a:prstGeom>
          <a:noFill/>
        </p:spPr>
        <p:txBody>
          <a:bodyPr wrap="square">
            <a:spAutoFit/>
          </a:bodyPr>
          <a:lstStyle/>
          <a:p>
            <a:pPr algn="ctr">
              <a:defRPr sz="1300" b="1">
                <a:solidFill>
                  <a:srgbClr val="0EA5E9"/>
                </a:solidFill>
              </a:defRPr>
            </a:pPr>
            <a:r>
              <a:t>ENTERPRISE ERP CORE</a:t>
            </a:r>
          </a:p>
          <a:p>
            <a:pPr algn="ctr">
              <a:defRPr sz="1000">
                <a:solidFill>
                  <a:srgbClr val="F8FAFC"/>
                </a:solidFill>
              </a:defRPr>
            </a:pPr>
            <a:br/>
            <a:r>
              <a:t>Spring Boot 3.2.3 (Java 17)</a:t>
            </a:r>
          </a:p>
          <a:p>
            <a:pPr algn="ctr">
              <a:defRPr sz="1000">
                <a:solidFill>
                  <a:srgbClr val="F8FAFC"/>
                </a:solidFill>
              </a:defRPr>
            </a:pPr>
            <a:br/>
            <a:r>
              <a:t>3-Tier Leave Approval Engine</a:t>
            </a:r>
          </a:p>
          <a:p>
            <a:pPr algn="ctr">
              <a:defRPr sz="1000">
                <a:solidFill>
                  <a:srgbClr val="F8FAFC"/>
                </a:solidFill>
              </a:defRPr>
            </a:pPr>
            <a:br/>
            <a:r>
              <a:t>KTU CIE &amp; Attendance Math</a:t>
            </a:r>
          </a:p>
          <a:p>
            <a:pPr algn="ctr">
              <a:defRPr sz="1000">
                <a:solidFill>
                  <a:srgbClr val="F8FAFC"/>
                </a:solidFill>
              </a:defRPr>
            </a:pPr>
            <a:br/>
            <a:r>
              <a:t>OpenPDF + ZXing Token Engine</a:t>
            </a:r>
          </a:p>
          <a:p>
            <a:pPr algn="ctr">
              <a:defRPr sz="1000">
                <a:solidFill>
                  <a:srgbClr val="F8FAFC"/>
                </a:solidFill>
              </a:defRPr>
            </a:pPr>
            <a:br/>
            <a:r>
              <a:t>Spring Mail Automated SMTP</a:t>
            </a:r>
          </a:p>
        </p:txBody>
      </p:sp>
      <p:sp>
        <p:nvSpPr>
          <p:cNvPr id="9" name="Rounded Rectangle 8"/>
          <p:cNvSpPr/>
          <p:nvPr/>
        </p:nvSpPr>
        <p:spPr>
          <a:xfrm>
            <a:off x="6217920" y="1463040"/>
            <a:ext cx="2560320" cy="4663440"/>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1645920"/>
            <a:ext cx="2286000" cy="4297680"/>
          </a:xfrm>
          <a:prstGeom prst="rect">
            <a:avLst/>
          </a:prstGeom>
          <a:noFill/>
        </p:spPr>
        <p:txBody>
          <a:bodyPr wrap="square">
            <a:spAutoFit/>
          </a:bodyPr>
          <a:lstStyle/>
          <a:p>
            <a:pPr algn="ctr">
              <a:defRPr sz="1300" b="1">
                <a:solidFill>
                  <a:srgbClr val="10B981"/>
                </a:solidFill>
              </a:defRPr>
            </a:pPr>
            <a:r>
              <a:t>PREDICTIVE AI ENGINE</a:t>
            </a:r>
          </a:p>
          <a:p>
            <a:pPr algn="ctr">
              <a:defRPr sz="1000">
                <a:solidFill>
                  <a:srgbClr val="F8FAFC"/>
                </a:solidFill>
              </a:defRPr>
            </a:pPr>
            <a:br/>
            <a:r>
              <a:t>FastAPI (Python 3.11)</a:t>
            </a:r>
          </a:p>
          <a:p>
            <a:pPr algn="ctr">
              <a:defRPr sz="1000">
                <a:solidFill>
                  <a:srgbClr val="F8FAFC"/>
                </a:solidFill>
              </a:defRPr>
            </a:pPr>
            <a:br/>
            <a:r>
              <a:t>DVI Velocity Engine (40/35/25)</a:t>
            </a:r>
          </a:p>
          <a:p>
            <a:pPr algn="ctr">
              <a:defRPr sz="1000">
                <a:solidFill>
                  <a:srgbClr val="F8FAFC"/>
                </a:solidFill>
              </a:defRPr>
            </a:pPr>
            <a:br/>
            <a:r>
              <a:t>EWMA Temporal Smoother</a:t>
            </a:r>
          </a:p>
          <a:p>
            <a:pPr algn="ctr">
              <a:defRPr sz="1000">
                <a:solidFill>
                  <a:srgbClr val="F8FAFC"/>
                </a:solidFill>
              </a:defRPr>
            </a:pPr>
            <a:br/>
            <a:r>
              <a:t>Approved Leave Date Masker</a:t>
            </a:r>
          </a:p>
          <a:p>
            <a:pPr algn="ctr">
              <a:defRPr sz="1000">
                <a:solidFill>
                  <a:srgbClr val="F8FAFC"/>
                </a:solidFill>
              </a:defRPr>
            </a:pPr>
            <a:br/>
            <a:r>
              <a:t>Counterfactual Optimizer</a:t>
            </a:r>
          </a:p>
        </p:txBody>
      </p:sp>
      <p:sp>
        <p:nvSpPr>
          <p:cNvPr id="11" name="Rounded Rectangle 10"/>
          <p:cNvSpPr/>
          <p:nvPr/>
        </p:nvSpPr>
        <p:spPr>
          <a:xfrm>
            <a:off x="9006840" y="1463040"/>
            <a:ext cx="2468880" cy="466344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0" y="1645920"/>
            <a:ext cx="2194560" cy="4297680"/>
          </a:xfrm>
          <a:prstGeom prst="rect">
            <a:avLst/>
          </a:prstGeom>
          <a:noFill/>
        </p:spPr>
        <p:txBody>
          <a:bodyPr wrap="square">
            <a:spAutoFit/>
          </a:bodyPr>
          <a:lstStyle/>
          <a:p>
            <a:pPr algn="ctr">
              <a:defRPr sz="1300" b="1">
                <a:solidFill>
                  <a:srgbClr val="F59E0B"/>
                </a:solidFill>
              </a:defRPr>
            </a:pPr>
            <a:r>
              <a:t>PERSISTENCE &amp; DATA</a:t>
            </a:r>
          </a:p>
          <a:p>
            <a:pPr algn="ctr">
              <a:defRPr sz="1000">
                <a:solidFill>
                  <a:srgbClr val="F8FAFC"/>
                </a:solidFill>
              </a:defRPr>
            </a:pPr>
            <a:br/>
            <a:r>
              <a:t>MySQL 8.0 (17 Relational Tables)</a:t>
            </a:r>
          </a:p>
          <a:p>
            <a:pPr algn="ctr">
              <a:defRPr sz="1000">
                <a:solidFill>
                  <a:srgbClr val="F8FAFC"/>
                </a:solidFill>
              </a:defRPr>
            </a:pPr>
            <a:br/>
            <a:r>
              <a:t>HikariCP Connection Pool (200 th)</a:t>
            </a:r>
          </a:p>
          <a:p>
            <a:pPr algn="ctr">
              <a:defRPr sz="1000">
                <a:solidFill>
                  <a:srgbClr val="F8FAFC"/>
                </a:solidFill>
              </a:defRPr>
            </a:pPr>
            <a:br/>
            <a:r>
              <a:t>Google Drive Cloud Syllabus Sync</a:t>
            </a:r>
          </a:p>
          <a:p>
            <a:pPr algn="ctr">
              <a:defRPr sz="1000">
                <a:solidFill>
                  <a:srgbClr val="F8FAFC"/>
                </a:solidFill>
              </a:defRPr>
            </a:pPr>
            <a:br/>
            <a:r>
              <a:t>In-Memory TF-IDF Document Store</a:t>
            </a:r>
          </a:p>
          <a:p>
            <a:pPr algn="ctr">
              <a:defRPr sz="1000">
                <a:solidFill>
                  <a:srgbClr val="F8FAFC"/>
                </a:solidFill>
              </a:defRPr>
            </a:pPr>
            <a:br/>
            <a:r>
              <a:t>Historical Audit Trail Logs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7. TECHNOLOGY STACK</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Robust Engineering Stack: High Concurrency, Fast Math &amp; Mobile Mobility</a:t>
            </a:r>
          </a:p>
          <a:p>
            <a:pPr>
              <a:defRPr sz="1200">
                <a:solidFill>
                  <a:srgbClr val="94A3B8"/>
                </a:solidFill>
              </a:defRPr>
            </a:pPr>
            <a:r>
              <a:t>Enterprise-grade frameworks engineered for 10,000+ student campuses.</a:t>
            </a:r>
          </a:p>
        </p:txBody>
      </p:sp>
      <p:sp>
        <p:nvSpPr>
          <p:cNvPr id="5" name="Rounded Rectangle 4"/>
          <p:cNvSpPr/>
          <p:nvPr/>
        </p:nvSpPr>
        <p:spPr>
          <a:xfrm>
            <a:off x="731520" y="1463040"/>
            <a:ext cx="5257800" cy="219456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600200"/>
            <a:ext cx="4800600" cy="1920240"/>
          </a:xfrm>
          <a:prstGeom prst="rect">
            <a:avLst/>
          </a:prstGeom>
          <a:noFill/>
        </p:spPr>
        <p:txBody>
          <a:bodyPr wrap="square">
            <a:spAutoFit/>
          </a:bodyPr>
          <a:lstStyle/>
          <a:p>
            <a:pPr>
              <a:defRPr sz="1000" b="1">
                <a:solidFill>
                  <a:srgbClr val="6366F1"/>
                </a:solidFill>
              </a:defRPr>
            </a:pPr>
            <a:r>
              <a:t>ENTERPRISE BACKEND</a:t>
            </a:r>
          </a:p>
          <a:p>
            <a:pPr>
              <a:defRPr sz="1400" b="1">
                <a:solidFill>
                  <a:srgbClr val="F8FAFC"/>
                </a:solidFill>
              </a:defRPr>
            </a:pPr>
            <a:r>
              <a:t>Spring Boot 3.2.3 | Java 17</a:t>
            </a:r>
          </a:p>
          <a:p>
            <a:br/>
            <a:r>
              <a:t>Spring Data JPA, Hibernate 6.4, HikariCP 200 connection pool, Spring Security 6 stateless JWT, OpenPDF 1.3, ZXing QR generation, Spring Mail SMTP.</a:t>
            </a:r>
          </a:p>
        </p:txBody>
      </p:sp>
      <p:sp>
        <p:nvSpPr>
          <p:cNvPr id="7" name="Rounded Rectangle 6"/>
          <p:cNvSpPr/>
          <p:nvPr/>
        </p:nvSpPr>
        <p:spPr>
          <a:xfrm>
            <a:off x="6172200" y="1463040"/>
            <a:ext cx="5257800" cy="219456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600200"/>
            <a:ext cx="4800600" cy="1920240"/>
          </a:xfrm>
          <a:prstGeom prst="rect">
            <a:avLst/>
          </a:prstGeom>
          <a:noFill/>
        </p:spPr>
        <p:txBody>
          <a:bodyPr wrap="square">
            <a:spAutoFit/>
          </a:bodyPr>
          <a:lstStyle/>
          <a:p>
            <a:pPr>
              <a:defRPr sz="1000" b="1">
                <a:solidFill>
                  <a:srgbClr val="0EA5E9"/>
                </a:solidFill>
              </a:defRPr>
            </a:pPr>
            <a:r>
              <a:t>PREDICTIVE ANALYTICS CORE</a:t>
            </a:r>
          </a:p>
          <a:p>
            <a:pPr>
              <a:defRPr sz="1400" b="1">
                <a:solidFill>
                  <a:srgbClr val="F8FAFC"/>
                </a:solidFill>
              </a:defRPr>
            </a:pPr>
            <a:r>
              <a:t>FastAPI | Python 3.11</a:t>
            </a:r>
          </a:p>
          <a:p>
            <a:br/>
            <a:r>
              <a:t>ASGI asynchronous concurrency, vectorized NumPy numerical calculations, EWMA matrix math, Pydantic data validation, sub-10ms DVI recalculation.</a:t>
            </a:r>
          </a:p>
        </p:txBody>
      </p:sp>
      <p:sp>
        <p:nvSpPr>
          <p:cNvPr id="9" name="Rounded Rectangle 8"/>
          <p:cNvSpPr/>
          <p:nvPr/>
        </p:nvSpPr>
        <p:spPr>
          <a:xfrm>
            <a:off x="731520" y="3840480"/>
            <a:ext cx="5257800" cy="2194560"/>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3977640"/>
            <a:ext cx="4800600" cy="1920240"/>
          </a:xfrm>
          <a:prstGeom prst="rect">
            <a:avLst/>
          </a:prstGeom>
          <a:noFill/>
        </p:spPr>
        <p:txBody>
          <a:bodyPr wrap="square">
            <a:spAutoFit/>
          </a:bodyPr>
          <a:lstStyle/>
          <a:p>
            <a:pPr>
              <a:defRPr sz="1000" b="1">
                <a:solidFill>
                  <a:srgbClr val="10B981"/>
                </a:solidFill>
              </a:defRPr>
            </a:pPr>
            <a:r>
              <a:t>DATABASE &amp; STORAGE</a:t>
            </a:r>
          </a:p>
          <a:p>
            <a:pPr>
              <a:defRPr sz="1400" b="1">
                <a:solidFill>
                  <a:srgbClr val="F8FAFC"/>
                </a:solidFill>
              </a:defRPr>
            </a:pPr>
            <a:r>
              <a:t>MySQL 8.0 &amp; SQLite</a:t>
            </a:r>
          </a:p>
          <a:p>
            <a:br/>
            <a:r>
              <a:t>17 normalized relational schemas (InnoDB, UTF8mb4), indexing on student/period pairs, Google Drive API v3 bi-directional syllabus sync worker.</a:t>
            </a:r>
          </a:p>
        </p:txBody>
      </p:sp>
      <p:sp>
        <p:nvSpPr>
          <p:cNvPr id="11" name="Rounded Rectangle 10"/>
          <p:cNvSpPr/>
          <p:nvPr/>
        </p:nvSpPr>
        <p:spPr>
          <a:xfrm>
            <a:off x="6172200" y="3840480"/>
            <a:ext cx="5257800" cy="219456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3977640"/>
            <a:ext cx="4800600" cy="1920240"/>
          </a:xfrm>
          <a:prstGeom prst="rect">
            <a:avLst/>
          </a:prstGeom>
          <a:noFill/>
        </p:spPr>
        <p:txBody>
          <a:bodyPr wrap="square">
            <a:spAutoFit/>
          </a:bodyPr>
          <a:lstStyle/>
          <a:p>
            <a:pPr>
              <a:defRPr sz="1000" b="1">
                <a:solidFill>
                  <a:srgbClr val="F59E0B"/>
                </a:solidFill>
              </a:defRPr>
            </a:pPr>
            <a:r>
              <a:t>CLIENT &amp; MOBILE DEPLOYMENT</a:t>
            </a:r>
          </a:p>
          <a:p>
            <a:pPr>
              <a:defRPr sz="1400" b="1">
                <a:solidFill>
                  <a:srgbClr val="F8FAFC"/>
                </a:solidFill>
              </a:defRPr>
            </a:pPr>
            <a:r>
              <a:t>React 18, Vite &amp; Capacitor</a:t>
            </a:r>
          </a:p>
          <a:p>
            <a:br/>
            <a:r>
              <a:t>Sub-second HMR development, modern responsive CSS system, SVG radial gauges, Recharts visualization, cross-platform Android mobile APK generation.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8. WORKING PROTOTYPE: FACULTY RISK RADAR &amp; COHORT OVERVIEW</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Real-Time Triaged Student Roster &amp; Behavioral Archetype Distribution</a:t>
            </a:r>
          </a:p>
          <a:p>
            <a:pPr>
              <a:defRPr sz="1200">
                <a:solidFill>
                  <a:srgbClr val="94A3B8"/>
                </a:solidFill>
              </a:defRPr>
            </a:pPr>
            <a:r>
              <a:t>Live screenshot from the running EduSync Tripwire application.</a:t>
            </a:r>
          </a:p>
        </p:txBody>
      </p:sp>
      <p:pic>
        <p:nvPicPr>
          <p:cNvPr id="5" name="Picture 4" descr="02_dashboard.png"/>
          <p:cNvPicPr>
            <a:picLocks noChangeAspect="1"/>
          </p:cNvPicPr>
          <p:nvPr/>
        </p:nvPicPr>
        <p:blipFill>
          <a:blip r:embed="rId2"/>
          <a:stretch>
            <a:fillRect/>
          </a:stretch>
        </p:blipFill>
        <p:spPr>
          <a:xfrm>
            <a:off x="731520" y="1463040"/>
            <a:ext cx="6858000" cy="4389120"/>
          </a:xfrm>
          <a:prstGeom prst="rect">
            <a:avLst/>
          </a:prstGeom>
        </p:spPr>
      </p:pic>
      <p:sp>
        <p:nvSpPr>
          <p:cNvPr id="6" name="Rounded Rectangle 5"/>
          <p:cNvSpPr/>
          <p:nvPr/>
        </p:nvSpPr>
        <p:spPr>
          <a:xfrm>
            <a:off x="7772400" y="1463040"/>
            <a:ext cx="3657600" cy="438912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01000" y="1645920"/>
            <a:ext cx="3200400" cy="4023360"/>
          </a:xfrm>
          <a:prstGeom prst="rect">
            <a:avLst/>
          </a:prstGeom>
          <a:noFill/>
        </p:spPr>
        <p:txBody>
          <a:bodyPr wrap="square">
            <a:spAutoFit/>
          </a:bodyPr>
          <a:lstStyle/>
          <a:p>
            <a:pPr>
              <a:defRPr sz="1300" b="1">
                <a:solidFill>
                  <a:srgbClr val="6366F1"/>
                </a:solidFill>
              </a:defRPr>
            </a:pPr>
            <a:r>
              <a:t>PROTOTYPE CAPABILITY: Risk Radar</a:t>
            </a:r>
          </a:p>
          <a:p>
            <a:br/>
            <a:r>
              <a:t>✔ 50-Student Live Cohort: Categorized dynamically across 7 behavioral archetypes.</a:t>
            </a:r>
          </a:p>
          <a:p>
            <a:br/>
            <a:r>
              <a:t>✔ Real-Time Velocity Ranking: Students sorted by DVI score; acute drift surfaced instantly.</a:t>
            </a:r>
          </a:p>
          <a:p>
            <a:br/>
            <a:r>
              <a:t>✔ Categorized Risk Zones: Normal (DVI &lt; 35), Monitoring Zone (35–69), and Tripwire Active Alert (DVI ≥ 70).</a:t>
            </a:r>
          </a:p>
          <a:p>
            <a:br/>
            <a:r>
              <a:t>✔ Instant Triage: Mentors focus immediately on students destabilizing right now, ignoring noise.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8. WORKING PROTOTYPE: BATCH ATTENDANCE REGISTER</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One-Click Classroom Telemetry Recording with Reliable Database Persistence</a:t>
            </a:r>
          </a:p>
          <a:p>
            <a:pPr>
              <a:defRPr sz="1200">
                <a:solidFill>
                  <a:srgbClr val="94A3B8"/>
                </a:solidFill>
              </a:defRPr>
            </a:pPr>
            <a:r>
              <a:t>Live screenshot of the Batch Attendance Register modal with date &amp; period tracking.</a:t>
            </a:r>
          </a:p>
        </p:txBody>
      </p:sp>
      <p:pic>
        <p:nvPicPr>
          <p:cNvPr id="5" name="Picture 4" descr="04_batch_attendance.png"/>
          <p:cNvPicPr>
            <a:picLocks noChangeAspect="1"/>
          </p:cNvPicPr>
          <p:nvPr/>
        </p:nvPicPr>
        <p:blipFill>
          <a:blip r:embed="rId2"/>
          <a:stretch>
            <a:fillRect/>
          </a:stretch>
        </p:blipFill>
        <p:spPr>
          <a:xfrm>
            <a:off x="731520" y="1463040"/>
            <a:ext cx="6858000" cy="4389120"/>
          </a:xfrm>
          <a:prstGeom prst="rect">
            <a:avLst/>
          </a:prstGeom>
        </p:spPr>
      </p:pic>
      <p:sp>
        <p:nvSpPr>
          <p:cNvPr id="6" name="Rounded Rectangle 5"/>
          <p:cNvSpPr/>
          <p:nvPr/>
        </p:nvSpPr>
        <p:spPr>
          <a:xfrm>
            <a:off x="7772400" y="1463040"/>
            <a:ext cx="3657600" cy="438912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01000" y="1645920"/>
            <a:ext cx="3200400" cy="4023360"/>
          </a:xfrm>
          <a:prstGeom prst="rect">
            <a:avLst/>
          </a:prstGeom>
          <a:noFill/>
        </p:spPr>
        <p:txBody>
          <a:bodyPr wrap="square">
            <a:spAutoFit/>
          </a:bodyPr>
          <a:lstStyle/>
          <a:p>
            <a:pPr>
              <a:defRPr sz="1300" b="1">
                <a:solidFill>
                  <a:srgbClr val="0EA5E9"/>
                </a:solidFill>
              </a:defRPr>
            </a:pPr>
            <a:r>
              <a:t>PROTOTYPE CAPABILITY: Telemetry Modal</a:t>
            </a:r>
          </a:p>
          <a:p>
            <a:br/>
            <a:r>
              <a:t>✔ One-Click Cohort Marking: Quick toggling across Present (P), Absent (A), Late (L), and Excused (E).</a:t>
            </a:r>
          </a:p>
          <a:p>
            <a:br/>
            <a:r>
              <a:t>✔ Multi-Period Tracking: Periods 1 through 6 selectable with morning absence anomaly detection.</a:t>
            </a:r>
          </a:p>
          <a:p>
            <a:br/>
            <a:r>
              <a:t>✔ Saved State Persistence: Reopening the modal immediately fetches saved marks from database—no blank or fresh resets.</a:t>
            </a:r>
          </a:p>
          <a:p>
            <a:br/>
            <a:r>
              <a:t>✔ Live DVI Recomputation: Saving attendance updates all 50 student velocity scores in under 200ms.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8. WORKING PROTOTYPE: STUDENT PROFILE &amp; COUNTERFACTUAL XAI</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Deep Behavioral Breakdown of Student Rahul (CSE24001) with 'What-If' Guidance</a:t>
            </a:r>
          </a:p>
          <a:p>
            <a:pPr>
              <a:defRPr sz="1200">
                <a:solidFill>
                  <a:srgbClr val="94A3B8"/>
                </a:solidFill>
              </a:defRPr>
            </a:pPr>
            <a:r>
              <a:t>Live screenshot of Rahul's DVI Profile, gauge, component scores, and counterfactuals.</a:t>
            </a:r>
          </a:p>
        </p:txBody>
      </p:sp>
      <p:pic>
        <p:nvPicPr>
          <p:cNvPr id="5" name="Picture 4" descr="05_student_profile_rahul.png"/>
          <p:cNvPicPr>
            <a:picLocks noChangeAspect="1"/>
          </p:cNvPicPr>
          <p:nvPr/>
        </p:nvPicPr>
        <p:blipFill>
          <a:blip r:embed="rId2"/>
          <a:stretch>
            <a:fillRect/>
          </a:stretch>
        </p:blipFill>
        <p:spPr>
          <a:xfrm>
            <a:off x="731520" y="1463040"/>
            <a:ext cx="6858000" cy="4389120"/>
          </a:xfrm>
          <a:prstGeom prst="rect">
            <a:avLst/>
          </a:prstGeom>
        </p:spPr>
      </p:pic>
      <p:sp>
        <p:nvSpPr>
          <p:cNvPr id="6" name="Rounded Rectangle 5"/>
          <p:cNvSpPr/>
          <p:nvPr/>
        </p:nvSpPr>
        <p:spPr>
          <a:xfrm>
            <a:off x="7772400" y="1463040"/>
            <a:ext cx="3657600" cy="4389120"/>
          </a:xfrm>
          <a:prstGeom prst="roundRect">
            <a:avLst/>
          </a:prstGeom>
          <a:solidFill>
            <a:srgbClr val="131A2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01000" y="1645920"/>
            <a:ext cx="3200400" cy="4023360"/>
          </a:xfrm>
          <a:prstGeom prst="rect">
            <a:avLst/>
          </a:prstGeom>
          <a:noFill/>
        </p:spPr>
        <p:txBody>
          <a:bodyPr wrap="square">
            <a:spAutoFit/>
          </a:bodyPr>
          <a:lstStyle/>
          <a:p>
            <a:pPr>
              <a:defRPr sz="1300" b="1">
                <a:solidFill>
                  <a:srgbClr val="EF4444"/>
                </a:solidFill>
              </a:defRPr>
            </a:pPr>
            <a:r>
              <a:t>PROTOTYPE CAPABILITY: Explainable XAI</a:t>
            </a:r>
          </a:p>
          <a:p>
            <a:br/>
            <a:r>
              <a:t>✔ DVI Radial Gauge: Displays real-time score (74 High Risk) with velocity indicator.</a:t>
            </a:r>
          </a:p>
          <a:p>
            <a:br/>
            <a:r>
              <a:t>✔ Tri-Component Breakdown: Explicitly attributes drift: 28 pts from attendance, 30 pts from late submissions, 16 pts from LMS drop.</a:t>
            </a:r>
          </a:p>
          <a:p>
            <a:br/>
            <a:r>
              <a:t>✔ Actionable Counterfactual: System calculates minimal change required to exit the alert zone.</a:t>
            </a:r>
          </a:p>
          <a:p>
            <a:br/>
            <a:r>
              <a:t>✔ Non-Punitive Guidance: Gives mentors supportive talking points instead of algorithmic condemnation.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8. WORKING PROTOTYPE: CLOSED-LOOP INTERVENTION &amp; RECOVERY</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Logging Consultations, Outcome Classifications, and Hysteresis Tracking</a:t>
            </a:r>
          </a:p>
          <a:p>
            <a:pPr>
              <a:defRPr sz="1200">
                <a:solidFill>
                  <a:srgbClr val="94A3B8"/>
                </a:solidFill>
              </a:defRPr>
            </a:pPr>
            <a:r>
              <a:t>Live screenshot of the Faculty Interventions Log &amp; Recovery Monitoring pipeline.</a:t>
            </a:r>
          </a:p>
        </p:txBody>
      </p:sp>
      <p:pic>
        <p:nvPicPr>
          <p:cNvPr id="5" name="Picture 4" descr="06_interventions.png"/>
          <p:cNvPicPr>
            <a:picLocks noChangeAspect="1"/>
          </p:cNvPicPr>
          <p:nvPr/>
        </p:nvPicPr>
        <p:blipFill>
          <a:blip r:embed="rId2"/>
          <a:stretch>
            <a:fillRect/>
          </a:stretch>
        </p:blipFill>
        <p:spPr>
          <a:xfrm>
            <a:off x="731520" y="1463040"/>
            <a:ext cx="6858000" cy="4389120"/>
          </a:xfrm>
          <a:prstGeom prst="rect">
            <a:avLst/>
          </a:prstGeom>
        </p:spPr>
      </p:pic>
      <p:sp>
        <p:nvSpPr>
          <p:cNvPr id="6" name="Rounded Rectangle 5"/>
          <p:cNvSpPr/>
          <p:nvPr/>
        </p:nvSpPr>
        <p:spPr>
          <a:xfrm>
            <a:off x="7772400" y="1463040"/>
            <a:ext cx="3657600" cy="4389120"/>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01000" y="1645920"/>
            <a:ext cx="3200400" cy="4023360"/>
          </a:xfrm>
          <a:prstGeom prst="rect">
            <a:avLst/>
          </a:prstGeom>
          <a:noFill/>
        </p:spPr>
        <p:txBody>
          <a:bodyPr wrap="square">
            <a:spAutoFit/>
          </a:bodyPr>
          <a:lstStyle/>
          <a:p>
            <a:pPr>
              <a:defRPr sz="1300" b="1">
                <a:solidFill>
                  <a:srgbClr val="10B981"/>
                </a:solidFill>
              </a:defRPr>
            </a:pPr>
            <a:r>
              <a:t>PROTOTYPE CAPABILITY: Closed Loop</a:t>
            </a:r>
          </a:p>
          <a:p>
            <a:br/>
            <a:r>
              <a:t>✔ Structured Outreach Logging: Records in-person meetings, phone calls, LMS messages, and referrals.</a:t>
            </a:r>
          </a:p>
          <a:p>
            <a:br/>
            <a:r>
              <a:t>✔ Outcome Classification: Categorizes academic vs personal issues to guide institutional support.</a:t>
            </a:r>
          </a:p>
          <a:p>
            <a:br/>
            <a:r>
              <a:t>✔ Hysteresis Recovery Monitor: Student transitions to 'Recovering' when DVI drops below 50, preventing alert oscillation.</a:t>
            </a:r>
          </a:p>
          <a:p>
            <a:br/>
            <a:r>
              <a:t>✔ Audit-Ready Compliance: Creates a permanent, institutional record of supportive mentorship.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9. IMPACT &amp; USEFULNESS</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Transforming Campus Operations, Academic Retention &amp; Student Well-Being</a:t>
            </a:r>
          </a:p>
          <a:p>
            <a:pPr>
              <a:defRPr sz="1200">
                <a:solidFill>
                  <a:srgbClr val="94A3B8"/>
                </a:solidFill>
              </a:defRPr>
            </a:pPr>
            <a:r>
              <a:t>Quantified institutional impact backed by ethical AI and privacy-by-design.</a:t>
            </a:r>
          </a:p>
        </p:txBody>
      </p:sp>
      <p:sp>
        <p:nvSpPr>
          <p:cNvPr id="5" name="Rounded Rectangle 4"/>
          <p:cNvSpPr/>
          <p:nvPr/>
        </p:nvSpPr>
        <p:spPr>
          <a:xfrm>
            <a:off x="731520" y="1463040"/>
            <a:ext cx="3429000" cy="219456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3063240" cy="1920240"/>
          </a:xfrm>
          <a:prstGeom prst="rect">
            <a:avLst/>
          </a:prstGeom>
          <a:noFill/>
        </p:spPr>
        <p:txBody>
          <a:bodyPr wrap="square">
            <a:spAutoFit/>
          </a:bodyPr>
          <a:lstStyle/>
          <a:p>
            <a:pPr>
              <a:defRPr sz="2200" b="1">
                <a:solidFill>
                  <a:srgbClr val="6366F1"/>
                </a:solidFill>
              </a:defRPr>
            </a:pPr>
            <a:r>
              <a:t>21–28 Days Earlier</a:t>
            </a:r>
          </a:p>
          <a:p>
            <a:pPr>
              <a:defRPr sz="1100" b="1">
                <a:solidFill>
                  <a:srgbClr val="F8FAFC"/>
                </a:solidFill>
              </a:defRPr>
            </a:pPr>
            <a:r>
              <a:t>LEAD TIME ADVANTAGE</a:t>
            </a:r>
          </a:p>
          <a:p>
            <a:br/>
            <a:r>
              <a:t>Detects micro-drift in 14-day rolling windows rather than waiting 90 days for midterm grades or exam hall ticket debarment.</a:t>
            </a:r>
          </a:p>
        </p:txBody>
      </p:sp>
      <p:sp>
        <p:nvSpPr>
          <p:cNvPr id="7" name="Rounded Rectangle 6"/>
          <p:cNvSpPr/>
          <p:nvPr/>
        </p:nvSpPr>
        <p:spPr>
          <a:xfrm>
            <a:off x="4343400" y="1463040"/>
            <a:ext cx="3429000" cy="219456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26280" y="1600200"/>
            <a:ext cx="3063240" cy="1920240"/>
          </a:xfrm>
          <a:prstGeom prst="rect">
            <a:avLst/>
          </a:prstGeom>
          <a:noFill/>
        </p:spPr>
        <p:txBody>
          <a:bodyPr wrap="square">
            <a:spAutoFit/>
          </a:bodyPr>
          <a:lstStyle/>
          <a:p>
            <a:pPr>
              <a:defRPr sz="2200" b="1">
                <a:solidFill>
                  <a:srgbClr val="0EA5E9"/>
                </a:solidFill>
              </a:defRPr>
            </a:pPr>
            <a:r>
              <a:t>&lt; 2 Minutes</a:t>
            </a:r>
          </a:p>
          <a:p>
            <a:pPr>
              <a:defRPr sz="1100" b="1">
                <a:solidFill>
                  <a:srgbClr val="F8FAFC"/>
                </a:solidFill>
              </a:defRPr>
            </a:pPr>
            <a:r>
              <a:t>DUTY LEAVE TURNAROUND</a:t>
            </a:r>
          </a:p>
          <a:p>
            <a:br/>
            <a:r>
              <a:t>Replaces 3–5 days of physical signature chasing across blocks with instant 3-tier digital approvals and QR passes.</a:t>
            </a:r>
          </a:p>
        </p:txBody>
      </p:sp>
      <p:sp>
        <p:nvSpPr>
          <p:cNvPr id="9" name="Rounded Rectangle 8"/>
          <p:cNvSpPr/>
          <p:nvPr/>
        </p:nvSpPr>
        <p:spPr>
          <a:xfrm>
            <a:off x="7955280" y="1463040"/>
            <a:ext cx="3429000" cy="2194560"/>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38160" y="1600200"/>
            <a:ext cx="3063240" cy="1920240"/>
          </a:xfrm>
          <a:prstGeom prst="rect">
            <a:avLst/>
          </a:prstGeom>
          <a:noFill/>
        </p:spPr>
        <p:txBody>
          <a:bodyPr wrap="square">
            <a:spAutoFit/>
          </a:bodyPr>
          <a:lstStyle/>
          <a:p>
            <a:pPr>
              <a:defRPr sz="2200" b="1">
                <a:solidFill>
                  <a:srgbClr val="10B981"/>
                </a:solidFill>
              </a:defRPr>
            </a:pPr>
            <a:r>
              <a:t>15,000+ Sheets</a:t>
            </a:r>
          </a:p>
          <a:p>
            <a:pPr>
              <a:defRPr sz="1100" b="1">
                <a:solidFill>
                  <a:srgbClr val="F8FAFC"/>
                </a:solidFill>
              </a:defRPr>
            </a:pPr>
            <a:r>
              <a:t>ZERO-PAPER SUSTAINABILITY</a:t>
            </a:r>
          </a:p>
          <a:p>
            <a:br/>
            <a:r>
              <a:t>Completely eliminates physical leave chits, medical condonation chits, and hall ticket clearance slips annually.</a:t>
            </a:r>
          </a:p>
        </p:txBody>
      </p:sp>
      <p:sp>
        <p:nvSpPr>
          <p:cNvPr id="11" name="Rounded Rectangle 10"/>
          <p:cNvSpPr/>
          <p:nvPr/>
        </p:nvSpPr>
        <p:spPr>
          <a:xfrm>
            <a:off x="731520" y="3840480"/>
            <a:ext cx="3429000" cy="2194560"/>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3977640"/>
            <a:ext cx="3063240" cy="1920240"/>
          </a:xfrm>
          <a:prstGeom prst="rect">
            <a:avLst/>
          </a:prstGeom>
          <a:noFill/>
        </p:spPr>
        <p:txBody>
          <a:bodyPr wrap="square">
            <a:spAutoFit/>
          </a:bodyPr>
          <a:lstStyle/>
          <a:p>
            <a:pPr>
              <a:defRPr sz="2200" b="1">
                <a:solidFill>
                  <a:srgbClr val="F59E0B"/>
                </a:solidFill>
              </a:defRPr>
            </a:pPr>
            <a:r>
              <a:t>15–20% Reduction</a:t>
            </a:r>
          </a:p>
          <a:p>
            <a:pPr>
              <a:defRPr sz="1100" b="1">
                <a:solidFill>
                  <a:srgbClr val="F8FAFC"/>
                </a:solidFill>
              </a:defRPr>
            </a:pPr>
            <a:r>
              <a:t>AVOIDABLE DEBARMENTS</a:t>
            </a:r>
          </a:p>
          <a:p>
            <a:br/>
            <a:r>
              <a:t>Early velocity check-ins prevent students from sliding into the condonation (&lt;75%) or year-back (&lt;60%) danger zone.</a:t>
            </a:r>
          </a:p>
        </p:txBody>
      </p:sp>
      <p:sp>
        <p:nvSpPr>
          <p:cNvPr id="13" name="Rounded Rectangle 12"/>
          <p:cNvSpPr/>
          <p:nvPr/>
        </p:nvSpPr>
        <p:spPr>
          <a:xfrm>
            <a:off x="4343400" y="3840480"/>
            <a:ext cx="3429000" cy="2194560"/>
          </a:xfrm>
          <a:prstGeom prst="roundRect">
            <a:avLst/>
          </a:prstGeom>
          <a:solidFill>
            <a:srgbClr val="131A2B"/>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3977640"/>
            <a:ext cx="3063240" cy="1920240"/>
          </a:xfrm>
          <a:prstGeom prst="rect">
            <a:avLst/>
          </a:prstGeom>
          <a:noFill/>
        </p:spPr>
        <p:txBody>
          <a:bodyPr wrap="square">
            <a:spAutoFit/>
          </a:bodyPr>
          <a:lstStyle/>
          <a:p>
            <a:pPr>
              <a:defRPr sz="2200" b="1">
                <a:solidFill>
                  <a:srgbClr val="EF4444"/>
                </a:solidFill>
              </a:defRPr>
            </a:pPr>
            <a:r>
              <a:t>Zero Stigmatization</a:t>
            </a:r>
          </a:p>
          <a:p>
            <a:pPr>
              <a:defRPr sz="1100" b="1">
                <a:solidFill>
                  <a:srgbClr val="F8FAFC"/>
                </a:solidFill>
              </a:defRPr>
            </a:pPr>
            <a:r>
              <a:t>DIGNITY-PRESERVING SAFETY NET</a:t>
            </a:r>
          </a:p>
          <a:p>
            <a:br/>
            <a:r>
              <a:t>Alerts are strictly private to mentors. Approved duty leaves are automatically masked. Zero public red flags.</a:t>
            </a:r>
          </a:p>
        </p:txBody>
      </p:sp>
      <p:sp>
        <p:nvSpPr>
          <p:cNvPr id="15" name="Rounded Rectangle 14"/>
          <p:cNvSpPr/>
          <p:nvPr/>
        </p:nvSpPr>
        <p:spPr>
          <a:xfrm>
            <a:off x="7955280" y="3840480"/>
            <a:ext cx="3429000" cy="2194560"/>
          </a:xfrm>
          <a:prstGeom prst="roundRect">
            <a:avLst/>
          </a:prstGeom>
          <a:solidFill>
            <a:srgbClr val="131A2B"/>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38160" y="3977640"/>
            <a:ext cx="3063240" cy="1920240"/>
          </a:xfrm>
          <a:prstGeom prst="rect">
            <a:avLst/>
          </a:prstGeom>
          <a:noFill/>
        </p:spPr>
        <p:txBody>
          <a:bodyPr wrap="square">
            <a:spAutoFit/>
          </a:bodyPr>
          <a:lstStyle/>
          <a:p>
            <a:pPr>
              <a:defRPr sz="2200" b="1">
                <a:solidFill>
                  <a:srgbClr val="F8FAFC"/>
                </a:solidFill>
              </a:defRPr>
            </a:pPr>
            <a:r>
              <a:t>85% Reduction</a:t>
            </a:r>
          </a:p>
          <a:p>
            <a:pPr>
              <a:defRPr sz="1100" b="1">
                <a:solidFill>
                  <a:srgbClr val="F8FAFC"/>
                </a:solidFill>
              </a:defRPr>
            </a:pPr>
            <a:r>
              <a:t>FACULTY TRIAGE OVERHEAD</a:t>
            </a:r>
          </a:p>
          <a:p>
            <a:br/>
            <a:r>
              <a:t>Automated velocity scoring highlights the top 5 at-risk students out of 100 in less than 10 seconds.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10. FUTURE SCOPE &amp; ROADMAP</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From Institution Prototype to State-Wide Higher Education Standard</a:t>
            </a:r>
          </a:p>
          <a:p>
            <a:pPr>
              <a:defRPr sz="1200">
                <a:solidFill>
                  <a:srgbClr val="94A3B8"/>
                </a:solidFill>
              </a:defRPr>
            </a:pPr>
            <a:r>
              <a:t>Scalable multi-phase trajectory expanding to national university ecosystems.</a:t>
            </a:r>
          </a:p>
        </p:txBody>
      </p:sp>
      <p:sp>
        <p:nvSpPr>
          <p:cNvPr id="5" name="Rounded Rectangle 4"/>
          <p:cNvSpPr/>
          <p:nvPr/>
        </p:nvSpPr>
        <p:spPr>
          <a:xfrm>
            <a:off x="731520" y="1463040"/>
            <a:ext cx="3429000" cy="4663440"/>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45920"/>
            <a:ext cx="3063240" cy="4297680"/>
          </a:xfrm>
          <a:prstGeom prst="rect">
            <a:avLst/>
          </a:prstGeom>
          <a:noFill/>
        </p:spPr>
        <p:txBody>
          <a:bodyPr wrap="square">
            <a:spAutoFit/>
          </a:bodyPr>
          <a:lstStyle/>
          <a:p>
            <a:pPr>
              <a:defRPr sz="1300" b="1">
                <a:solidFill>
                  <a:srgbClr val="6366F1"/>
                </a:solidFill>
              </a:defRPr>
            </a:pPr>
            <a:r>
              <a:t>Phase 1 (Delivered Prototype)</a:t>
            </a:r>
          </a:p>
          <a:p>
            <a:pPr>
              <a:defRPr sz="1000" i="1">
                <a:solidFill>
                  <a:srgbClr val="94A3B8"/>
                </a:solidFill>
              </a:defRPr>
            </a:pPr>
            <a:r>
              <a:t>Current Hackathon Release</a:t>
            </a:r>
          </a:p>
          <a:p>
            <a:br/>
            <a:r>
              <a:t>• Full 3-Tier Digital Leave &amp; QR Generation Engine</a:t>
            </a:r>
          </a:p>
          <a:p>
            <a:br/>
            <a:r>
              <a:t>• Tripwire DVI Behavioral Velocity Engine (40/35/25)</a:t>
            </a:r>
          </a:p>
          <a:p>
            <a:br/>
            <a:r>
              <a:t>• Batch Attendance Register with Persistence</a:t>
            </a:r>
          </a:p>
          <a:p>
            <a:br/>
            <a:r>
              <a:t>• Document-Grounded RAG AI for KTU Ordinances</a:t>
            </a:r>
          </a:p>
          <a:p>
            <a:br/>
            <a:r>
              <a:t>• AI ATS Placement Resume Screening Studio</a:t>
            </a:r>
          </a:p>
        </p:txBody>
      </p:sp>
      <p:sp>
        <p:nvSpPr>
          <p:cNvPr id="7" name="Rounded Rectangle 6"/>
          <p:cNvSpPr/>
          <p:nvPr/>
        </p:nvSpPr>
        <p:spPr>
          <a:xfrm>
            <a:off x="4343400" y="1463040"/>
            <a:ext cx="3429000" cy="4663440"/>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26280" y="1645920"/>
            <a:ext cx="3063240" cy="4297680"/>
          </a:xfrm>
          <a:prstGeom prst="rect">
            <a:avLst/>
          </a:prstGeom>
          <a:noFill/>
        </p:spPr>
        <p:txBody>
          <a:bodyPr wrap="square">
            <a:spAutoFit/>
          </a:bodyPr>
          <a:lstStyle/>
          <a:p>
            <a:pPr>
              <a:defRPr sz="1300" b="1">
                <a:solidFill>
                  <a:srgbClr val="0EA5E9"/>
                </a:solidFill>
              </a:defRPr>
            </a:pPr>
            <a:r>
              <a:t>Phase 2 (Next 3 Months)</a:t>
            </a:r>
          </a:p>
          <a:p>
            <a:pPr>
              <a:defRPr sz="1000" i="1">
                <a:solidFill>
                  <a:srgbClr val="94A3B8"/>
                </a:solidFill>
              </a:defRPr>
            </a:pPr>
            <a:r>
              <a:t>Deep Ecosystem Integration</a:t>
            </a:r>
          </a:p>
          <a:p>
            <a:br/>
            <a:r>
              <a:t>• Generative AI Advisor Outreach Copilot (Google Gemini API)</a:t>
            </a:r>
          </a:p>
          <a:p>
            <a:br/>
            <a:r>
              <a:t>• Direct Canvas / Moodle LTI 1.3 Streaming Connectors</a:t>
            </a:r>
          </a:p>
          <a:p>
            <a:br/>
            <a:r>
              <a:t>• Automated WhatsApp &amp; SMS Gateway for Immediate Alerts</a:t>
            </a:r>
          </a:p>
          <a:p>
            <a:br/>
            <a:r>
              <a:t>• State-Wide KTU University Portal API Synchronization</a:t>
            </a:r>
          </a:p>
        </p:txBody>
      </p:sp>
      <p:sp>
        <p:nvSpPr>
          <p:cNvPr id="9" name="Rounded Rectangle 8"/>
          <p:cNvSpPr/>
          <p:nvPr/>
        </p:nvSpPr>
        <p:spPr>
          <a:xfrm>
            <a:off x="7955280" y="1463040"/>
            <a:ext cx="3429000" cy="4663440"/>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38160" y="1645920"/>
            <a:ext cx="3063240" cy="4297680"/>
          </a:xfrm>
          <a:prstGeom prst="rect">
            <a:avLst/>
          </a:prstGeom>
          <a:noFill/>
        </p:spPr>
        <p:txBody>
          <a:bodyPr wrap="square">
            <a:spAutoFit/>
          </a:bodyPr>
          <a:lstStyle/>
          <a:p>
            <a:pPr>
              <a:defRPr sz="1300" b="1">
                <a:solidFill>
                  <a:srgbClr val="10B981"/>
                </a:solidFill>
              </a:defRPr>
            </a:pPr>
            <a:r>
              <a:t>Phase 3 (Next 6–12 Months)</a:t>
            </a:r>
          </a:p>
          <a:p>
            <a:pPr>
              <a:defRPr sz="1000" i="1">
                <a:solidFill>
                  <a:srgbClr val="94A3B8"/>
                </a:solidFill>
              </a:defRPr>
            </a:pPr>
            <a:r>
              <a:t>State-Wide Enterprise Scale</a:t>
            </a:r>
          </a:p>
          <a:p>
            <a:br/>
            <a:r>
              <a:t>• Cross-Semester Longitudinal Retention AI Modeling</a:t>
            </a:r>
          </a:p>
          <a:p>
            <a:br/>
            <a:r>
              <a:t>• Blockchain-Anchored Credential Verification for Leaves &amp; Bonafides</a:t>
            </a:r>
          </a:p>
          <a:p>
            <a:br/>
            <a:r>
              <a:t>• Predictive Departmental Resource &amp; Faculty Workload Balancer</a:t>
            </a:r>
          </a:p>
          <a:p>
            <a:br/>
            <a:r>
              <a:t>• Multi-Institution Federated Learning for Cross-Campus Models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65760"/>
          </a:xfrm>
          <a:prstGeom prst="rect">
            <a:avLst/>
          </a:prstGeom>
          <a:noFill/>
        </p:spPr>
        <p:txBody>
          <a:bodyPr wrap="square">
            <a:spAutoFit/>
          </a:bodyPr>
          <a:lstStyle/>
          <a:p>
            <a:pPr>
              <a:defRPr sz="1100" b="1">
                <a:solidFill>
                  <a:srgbClr val="6366F1"/>
                </a:solidFill>
              </a:defRPr>
            </a:pPr>
            <a:r>
              <a:t>CONCLUSION &amp; JUDGE DEFENSE</a:t>
            </a:r>
          </a:p>
        </p:txBody>
      </p:sp>
      <p:sp>
        <p:nvSpPr>
          <p:cNvPr id="4" name="TextBox 3"/>
          <p:cNvSpPr txBox="1"/>
          <p:nvPr/>
        </p:nvSpPr>
        <p:spPr>
          <a:xfrm>
            <a:off x="731520" y="640080"/>
            <a:ext cx="10698480" cy="548640"/>
          </a:xfrm>
          <a:prstGeom prst="rect">
            <a:avLst/>
          </a:prstGeom>
          <a:noFill/>
        </p:spPr>
        <p:txBody>
          <a:bodyPr wrap="square">
            <a:spAutoFit/>
          </a:bodyPr>
          <a:lstStyle/>
          <a:p>
            <a:pPr>
              <a:defRPr sz="2200" b="1">
                <a:solidFill>
                  <a:srgbClr val="F8FAFC"/>
                </a:solidFill>
              </a:defRPr>
            </a:pPr>
            <a:r>
              <a:t>Why EduSync × Tripwire is the Winning Higher-Ed Solution</a:t>
            </a:r>
          </a:p>
          <a:p>
            <a:pPr>
              <a:defRPr sz="1200">
                <a:solidFill>
                  <a:srgbClr val="94A3B8"/>
                </a:solidFill>
              </a:defRPr>
            </a:pPr>
            <a:r>
              <a:t>Cheat-sheet answering the toughest judge questions.</a:t>
            </a:r>
          </a:p>
        </p:txBody>
      </p:sp>
      <p:sp>
        <p:nvSpPr>
          <p:cNvPr id="5" name="Rounded Rectangle 4"/>
          <p:cNvSpPr/>
          <p:nvPr/>
        </p:nvSpPr>
        <p:spPr>
          <a:xfrm>
            <a:off x="731520" y="1463040"/>
            <a:ext cx="10728655" cy="1115568"/>
          </a:xfrm>
          <a:prstGeom prst="roundRect">
            <a:avLst/>
          </a:prstGeom>
          <a:solidFill>
            <a:srgbClr val="131A2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536192"/>
            <a:ext cx="10149840" cy="960120"/>
          </a:xfrm>
          <a:prstGeom prst="rect">
            <a:avLst/>
          </a:prstGeom>
          <a:noFill/>
        </p:spPr>
        <p:txBody>
          <a:bodyPr wrap="square">
            <a:spAutoFit/>
          </a:bodyPr>
          <a:lstStyle/>
          <a:p>
            <a:pPr>
              <a:defRPr sz="1200" b="1">
                <a:solidFill>
                  <a:srgbClr val="6366F1"/>
                </a:solidFill>
              </a:defRPr>
            </a:pPr>
            <a:r>
              <a:t>Q: "Why combine campus ERP duty leaves with behavioral AI?"</a:t>
            </a:r>
          </a:p>
          <a:p>
            <a:pPr>
              <a:defRPr sz="950">
                <a:solidFill>
                  <a:srgbClr val="F8FAFC"/>
                </a:solidFill>
              </a:defRPr>
            </a:pPr>
            <a:r>
              <a:t>A: Because they cannot work in silos! An early warning system that doesn't know about approved duty leaves will penalize students who are winning hackathons for the college. Integrating leave governance directly into the telemetry pipeline eliminates false positives.</a:t>
            </a:r>
          </a:p>
        </p:txBody>
      </p:sp>
      <p:sp>
        <p:nvSpPr>
          <p:cNvPr id="7" name="Rounded Rectangle 6"/>
          <p:cNvSpPr/>
          <p:nvPr/>
        </p:nvSpPr>
        <p:spPr>
          <a:xfrm>
            <a:off x="731520" y="2697480"/>
            <a:ext cx="10728655" cy="1115568"/>
          </a:xfrm>
          <a:prstGeom prst="roundRect">
            <a:avLst/>
          </a:prstGeom>
          <a:solidFill>
            <a:srgbClr val="131A2B"/>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770632"/>
            <a:ext cx="10149840" cy="960120"/>
          </a:xfrm>
          <a:prstGeom prst="rect">
            <a:avLst/>
          </a:prstGeom>
          <a:noFill/>
        </p:spPr>
        <p:txBody>
          <a:bodyPr wrap="square">
            <a:spAutoFit/>
          </a:bodyPr>
          <a:lstStyle/>
          <a:p>
            <a:pPr>
              <a:defRPr sz="1200" b="1">
                <a:solidFill>
                  <a:srgbClr val="0EA5E9"/>
                </a:solidFill>
              </a:defRPr>
            </a:pPr>
            <a:r>
              <a:t>Q: "How does this protect student dignity and mental health?"</a:t>
            </a:r>
          </a:p>
          <a:p>
            <a:pPr>
              <a:defRPr sz="950">
                <a:solidFill>
                  <a:srgbClr val="F8FAFC"/>
                </a:solidFill>
              </a:defRPr>
            </a:pPr>
            <a:r>
              <a:t>A: Students are NEVER shown a public 'High Risk' label. Alerts are private advisory signals strictly inside the Faculty Advisor portal. The mentor reaches out naturally and supportively, preserving student dignity.</a:t>
            </a:r>
          </a:p>
        </p:txBody>
      </p:sp>
      <p:sp>
        <p:nvSpPr>
          <p:cNvPr id="9" name="Rounded Rectangle 8"/>
          <p:cNvSpPr/>
          <p:nvPr/>
        </p:nvSpPr>
        <p:spPr>
          <a:xfrm>
            <a:off x="731520" y="3931920"/>
            <a:ext cx="10728655" cy="1115568"/>
          </a:xfrm>
          <a:prstGeom prst="roundRect">
            <a:avLst/>
          </a:prstGeom>
          <a:solidFill>
            <a:srgbClr val="131A2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4005072"/>
            <a:ext cx="10149840" cy="960120"/>
          </a:xfrm>
          <a:prstGeom prst="rect">
            <a:avLst/>
          </a:prstGeom>
          <a:noFill/>
        </p:spPr>
        <p:txBody>
          <a:bodyPr wrap="square">
            <a:spAutoFit/>
          </a:bodyPr>
          <a:lstStyle/>
          <a:p>
            <a:pPr>
              <a:defRPr sz="1200" b="1">
                <a:solidFill>
                  <a:srgbClr val="10B981"/>
                </a:solidFill>
              </a:defRPr>
            </a:pPr>
            <a:r>
              <a:t>Q: "What if a student is sick with the flu for 2 days?"</a:t>
            </a:r>
          </a:p>
          <a:p>
            <a:pPr>
              <a:defRPr sz="950">
                <a:solidFill>
                  <a:srgbClr val="F8FAFC"/>
                </a:solidFill>
              </a:defRPr>
            </a:pPr>
            <a:r>
              <a:t>A: Our EWMA noise-smoothing filter (alpha=0.35) mathematically dampens isolated shocks. An alert requires sustained behavioral drift across rolling 14-day windows.</a:t>
            </a:r>
          </a:p>
        </p:txBody>
      </p:sp>
      <p:sp>
        <p:nvSpPr>
          <p:cNvPr id="11" name="Rounded Rectangle 10"/>
          <p:cNvSpPr/>
          <p:nvPr/>
        </p:nvSpPr>
        <p:spPr>
          <a:xfrm>
            <a:off x="731520" y="5166360"/>
            <a:ext cx="10728655" cy="1115568"/>
          </a:xfrm>
          <a:prstGeom prst="roundRect">
            <a:avLst/>
          </a:prstGeom>
          <a:solidFill>
            <a:srgbClr val="131A2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5239512"/>
            <a:ext cx="10149840" cy="960120"/>
          </a:xfrm>
          <a:prstGeom prst="rect">
            <a:avLst/>
          </a:prstGeom>
          <a:noFill/>
        </p:spPr>
        <p:txBody>
          <a:bodyPr wrap="square">
            <a:spAutoFit/>
          </a:bodyPr>
          <a:lstStyle/>
          <a:p>
            <a:pPr>
              <a:defRPr sz="1200" b="1">
                <a:solidFill>
                  <a:srgbClr val="F59E0B"/>
                </a:solidFill>
              </a:defRPr>
            </a:pPr>
            <a:r>
              <a:t>Q: "Is this feasible to deploy across a 5,000-student university?"</a:t>
            </a:r>
          </a:p>
          <a:p>
            <a:pPr>
              <a:defRPr sz="950">
                <a:solidFill>
                  <a:srgbClr val="F8FAFC"/>
                </a:solidFill>
              </a:defRPr>
            </a:pPr>
            <a:r>
              <a:t>A: Yes. Spring Boot handles ACID transactions via HikariCP connection pooling, while FastAPI executes vectorized NumPy calculations that recompute 5,000 student DVI scores in under 1.2 seconds.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TotalTime>
  <Words>2522</Words>
  <Application>Microsoft Office PowerPoint</Application>
  <PresentationFormat>Widescreen</PresentationFormat>
  <Paragraphs>209</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Sreehari B</cp:lastModifiedBy>
  <cp:revision>1</cp:revision>
  <dcterms:created xsi:type="dcterms:W3CDTF">2013-01-27T09:14:16Z</dcterms:created>
  <dcterms:modified xsi:type="dcterms:W3CDTF">2026-09-19T04:43:11Z</dcterms:modified>
  <cp:category/>
</cp:coreProperties>
</file>