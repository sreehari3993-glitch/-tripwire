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554480"/>
            <a:ext cx="8534095" cy="3657600"/>
          </a:xfrm>
          <a:prstGeom prst="rect">
            <a:avLst/>
          </a:prstGeom>
          <a:noFill/>
        </p:spPr>
        <p:txBody>
          <a:bodyPr wrap="square">
            <a:spAutoFit/>
          </a:bodyPr>
          <a:lstStyle/>
          <a:p>
            <a:pPr algn="ctr">
              <a:defRPr sz="1200" b="1">
                <a:solidFill>
                  <a:srgbClr val="0EA5E9"/>
                </a:solidFill>
              </a:defRPr>
            </a:pPr>
            <a:r>
              <a:t>HACKATHON PRESENTATION | AI &amp; ANALYTICS IN HIGHER EDUCATION</a:t>
            </a:r>
          </a:p>
          <a:p>
            <a:pPr algn="ctr">
              <a:defRPr sz="4400" b="1">
                <a:solidFill>
                  <a:srgbClr val="F8FAFC"/>
                </a:solidFill>
              </a:defRPr>
            </a:pPr>
            <a:r>
              <a:t>PROJECT TRIPWIRE</a:t>
            </a:r>
          </a:p>
          <a:p>
            <a:pPr algn="ctr">
              <a:defRPr sz="1700" b="1">
                <a:solidFill>
                  <a:srgbClr val="6366F1"/>
                </a:solidFill>
              </a:defRPr>
            </a:pPr>
            <a:r>
              <a:t>The Predictive Behavioral Early-Warning Layer for Standard College ERPs</a:t>
            </a:r>
          </a:p>
          <a:p>
            <a:pPr algn="ctr">
              <a:defRPr sz="1300" i="1">
                <a:solidFill>
                  <a:srgbClr val="F8FAFC"/>
                </a:solidFill>
              </a:defRPr>
            </a:pPr>
            <a:br/>
            <a:r>
              <a:t>"Tripwire doesn't replace the faculty mentor—it notices the right student at the right time."</a:t>
            </a:r>
            <a:br/>
            <a:r>
              <a:t>Seamlessly ingests telemetry from existing systems (ETLAB, Linways) with zero student surveillance.</a:t>
            </a:r>
          </a:p>
          <a:p>
            <a:pPr algn="ctr">
              <a:defRPr sz="1100">
                <a:solidFill>
                  <a:srgbClr val="10B981"/>
                </a:solidFill>
              </a:defRPr>
            </a:pPr>
            <a:br/>
            <a:r>
              <a:t>Built for University Compliance: KTU, Autonomous Technical Colleges &amp; Higher Education Institutions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1. PROBLEM STATEMENT</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The Passive ERP Blindspot: Why Colleges Fail to Catch Dropping Students</a:t>
            </a:r>
          </a:p>
          <a:p>
            <a:pPr>
              <a:defRPr sz="1150">
                <a:solidFill>
                  <a:srgbClr val="94A3B8"/>
                </a:solidFill>
              </a:defRPr>
            </a:pPr>
            <a:r>
              <a:t>How traditional college management systems miss silent behavioral disengagement.</a:t>
            </a:r>
          </a:p>
        </p:txBody>
      </p:sp>
      <p:sp>
        <p:nvSpPr>
          <p:cNvPr id="5" name="Rounded Rectangle 4"/>
          <p:cNvSpPr/>
          <p:nvPr/>
        </p:nvSpPr>
        <p:spPr>
          <a:xfrm>
            <a:off x="731520" y="1463040"/>
            <a:ext cx="5212080" cy="466344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63440" cy="4206240"/>
          </a:xfrm>
          <a:prstGeom prst="rect">
            <a:avLst/>
          </a:prstGeom>
          <a:noFill/>
        </p:spPr>
        <p:txBody>
          <a:bodyPr wrap="square">
            <a:spAutoFit/>
          </a:bodyPr>
          <a:lstStyle/>
          <a:p>
            <a:pPr>
              <a:defRPr sz="1500" b="1">
                <a:solidFill>
                  <a:srgbClr val="EF4444"/>
                </a:solidFill>
              </a:defRPr>
            </a:pPr>
            <a:r>
              <a:t>THE CAMPUS REALITY: LATE POST-MORTEM</a:t>
            </a:r>
          </a:p>
          <a:p>
            <a:br/>
            <a:pPr>
              <a:defRPr b="1" sz="1100">
                <a:solidFill>
                  <a:srgbClr val="F8FAFC"/>
                </a:solidFill>
              </a:defRPr>
            </a:pPr>
            <a:r>
              <a:t>• The 75% Debarment Shock: </a:t>
            </a:r>
          </a:p>
          <a:p>
            <a:pPr>
              <a:defRPr sz="1000">
                <a:solidFill>
                  <a:srgbClr val="94A3B8"/>
                </a:solidFill>
              </a:defRPr>
            </a:pPr>
            <a:r>
              <a:t>  Under statutory technical university regulations (e.g., KTU), students must maintain &gt;= 75% attendance. Students below 75% face condonation fines or year-back exam debarment.</a:t>
            </a:r>
          </a:p>
          <a:p>
            <a:br/>
            <a:pPr>
              <a:defRPr b="1" sz="1100">
                <a:solidFill>
                  <a:srgbClr val="F8FAFC"/>
                </a:solidFill>
              </a:defRPr>
            </a:pPr>
            <a:r>
              <a:t>• ERPs are Passive Ledgers: </a:t>
            </a:r>
          </a:p>
          <a:p>
            <a:pPr>
              <a:defRPr sz="1000">
                <a:solidFill>
                  <a:srgbClr val="94A3B8"/>
                </a:solidFill>
              </a:defRPr>
            </a:pPr>
            <a:r>
              <a:t>  Current campus ERPs (ETLAB, Linways) merely act as digital databases. They log period attendance and Series exam marks passively, but lack predictive velocity modeling.</a:t>
            </a:r>
          </a:p>
          <a:p>
            <a:br/>
            <a:pPr>
              <a:defRPr b="1" sz="1100">
                <a:solidFill>
                  <a:srgbClr val="F8FAFC"/>
                </a:solidFill>
              </a:defRPr>
            </a:pPr>
            <a:r>
              <a:t>• Late-Stage Discovery: </a:t>
            </a:r>
          </a:p>
          <a:p>
            <a:pPr>
              <a:defRPr sz="1000">
                <a:solidFill>
                  <a:srgbClr val="94A3B8"/>
                </a:solidFill>
              </a:defRPr>
            </a:pPr>
            <a:r>
              <a:t>  Faculty and students discover debarment status 48 hours before final exams when hall tickets are blocked—when it is mathematically impossible to attend enough classes to recover.</a:t>
            </a:r>
          </a:p>
          <a:p>
            <a:br/>
            <a:pPr>
              <a:defRPr b="1" sz="1100">
                <a:solidFill>
                  <a:srgbClr val="F8FAFC"/>
                </a:solidFill>
              </a:defRPr>
            </a:pPr>
            <a:r>
              <a:t>• The Dropout Cost: </a:t>
            </a:r>
          </a:p>
          <a:p>
            <a:pPr>
              <a:defRPr sz="1000">
                <a:solidFill>
                  <a:srgbClr val="94A3B8"/>
                </a:solidFill>
              </a:defRPr>
            </a:pPr>
            <a:r>
              <a:t>  Over 25% of engineering dropouts and semester year-backs occur without prior academic warnings because disengagement starts behaviorally weeks earlier.</a:t>
            </a:r>
          </a:p>
        </p:txBody>
      </p:sp>
      <p:sp>
        <p:nvSpPr>
          <p:cNvPr id="7" name="Rounded Rectangle 6"/>
          <p:cNvSpPr/>
          <p:nvPr/>
        </p:nvSpPr>
        <p:spPr>
          <a:xfrm>
            <a:off x="6217920" y="1463040"/>
            <a:ext cx="5212080" cy="466344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663440" cy="4206240"/>
          </a:xfrm>
          <a:prstGeom prst="rect">
            <a:avLst/>
          </a:prstGeom>
          <a:noFill/>
        </p:spPr>
        <p:txBody>
          <a:bodyPr wrap="square">
            <a:spAutoFit/>
          </a:bodyPr>
          <a:lstStyle/>
          <a:p>
            <a:pPr>
              <a:defRPr sz="1500" b="1">
                <a:solidFill>
                  <a:srgbClr val="F59E0B"/>
                </a:solidFill>
              </a:defRPr>
            </a:pPr>
            <a:r>
              <a:t>THE 'SILENT DRIFT' ANATOMY</a:t>
            </a:r>
          </a:p>
          <a:p>
            <a:br/>
            <a:pPr>
              <a:defRPr b="1" sz="1100">
                <a:solidFill>
                  <a:srgbClr val="F8FAFC"/>
                </a:solidFill>
              </a:defRPr>
            </a:pPr>
            <a:r>
              <a:t>• Disengagement is Multi-Modal: </a:t>
            </a:r>
          </a:p>
          <a:p>
            <a:pPr>
              <a:defRPr sz="1000">
                <a:solidFill>
                  <a:srgbClr val="94A3B8"/>
                </a:solidFill>
              </a:defRPr>
            </a:pPr>
            <a:r>
              <a:t>  Students do not fail abruptly. Decline starts with subtle, connected behavioral micro-drifts 3 to 6 weeks before academic distress manifests in exam halls.</a:t>
            </a:r>
          </a:p>
          <a:p>
            <a:br/>
            <a:pPr>
              <a:defRPr b="1" sz="1100">
                <a:solidFill>
                  <a:srgbClr val="F8FAFC"/>
                </a:solidFill>
              </a:defRPr>
            </a:pPr>
            <a:r>
              <a:t>• Morning Absence Anomaly: </a:t>
            </a:r>
          </a:p>
          <a:p>
            <a:pPr>
              <a:defRPr sz="1000">
                <a:solidFill>
                  <a:srgbClr val="94A3B8"/>
                </a:solidFill>
              </a:defRPr>
            </a:pPr>
            <a:r>
              <a:t>  A student begins routinely missing Period 1 (morning) lectures while attending afternoon classes—a primary indicator of sleep disorders or isolation.</a:t>
            </a:r>
          </a:p>
          <a:p>
            <a:br/>
            <a:pPr>
              <a:defRPr b="1" sz="1100">
                <a:solidFill>
                  <a:srgbClr val="F8FAFC"/>
                </a:solidFill>
              </a:defRPr>
            </a:pPr>
            <a:r>
              <a:t>• Submission Latency Creep: </a:t>
            </a:r>
          </a:p>
          <a:p>
            <a:pPr>
              <a:defRPr sz="1000">
                <a:solidFill>
                  <a:srgbClr val="94A3B8"/>
                </a:solidFill>
              </a:defRPr>
            </a:pPr>
            <a:r>
              <a:t>  Assignments that were previously turned in 2 hours early begin arriving 18 to 48 hours late, signaling acute cognitive overload.</a:t>
            </a:r>
          </a:p>
          <a:p>
            <a:br/>
            <a:pPr>
              <a:defRPr b="1" sz="1100">
                <a:solidFill>
                  <a:srgbClr val="F8FAFC"/>
                </a:solidFill>
              </a:defRPr>
            </a:pPr>
            <a:r>
              <a:t>• Faculty Triage Paralysis: </a:t>
            </a:r>
          </a:p>
          <a:p>
            <a:pPr>
              <a:defRPr sz="1000">
                <a:solidFill>
                  <a:srgbClr val="94A3B8"/>
                </a:solidFill>
              </a:defRPr>
            </a:pPr>
            <a:r>
              <a:t>  With 60 to 120 students per classroom, faculty advisors cannot manually cross-correlate attendance sheets, homework timestamps, and LMS clicks without automated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2. TARGET USERS / STAKEHOLDERS</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Academic Stakeholder Matrix: Transforming Roles from Reactive to Proactive</a:t>
            </a:r>
          </a:p>
          <a:p>
            <a:pPr>
              <a:defRPr sz="1150">
                <a:solidFill>
                  <a:srgbClr val="94A3B8"/>
                </a:solidFill>
              </a:defRPr>
            </a:pPr>
            <a:r>
              <a:t>Empowering educators, administrators, and students with dignified early intervention.</a:t>
            </a:r>
          </a:p>
        </p:txBody>
      </p:sp>
      <p:sp>
        <p:nvSpPr>
          <p:cNvPr id="5" name="Rounded Rectangle 4"/>
          <p:cNvSpPr/>
          <p:nvPr/>
        </p:nvSpPr>
        <p:spPr>
          <a:xfrm>
            <a:off x="731520" y="1463040"/>
            <a:ext cx="10728655" cy="1078992"/>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36192"/>
            <a:ext cx="10149840" cy="932688"/>
          </a:xfrm>
          <a:prstGeom prst="rect">
            <a:avLst/>
          </a:prstGeom>
          <a:noFill/>
        </p:spPr>
        <p:txBody>
          <a:bodyPr wrap="square">
            <a:spAutoFit/>
          </a:bodyPr>
          <a:lstStyle/>
          <a:p>
            <a:pPr>
              <a:defRPr sz="1300" b="1">
                <a:solidFill>
                  <a:srgbClr val="6366F1"/>
                </a:solidFill>
              </a:defRPr>
            </a:pPr>
            <a:r>
              <a:t>Faculty Advisors &amp; Mentors (Primary Users)</a:t>
            </a:r>
          </a:p>
          <a:p>
            <a:pPr>
              <a:defRPr sz="1000">
                <a:solidFill>
                  <a:srgbClr val="94A3B8"/>
                </a:solidFill>
              </a:defRPr>
            </a:pPr>
            <a:r>
              <a:t>Pain Point: Overburdened with administrative data entry; blind to quiet student disengagement until exams.</a:t>
            </a:r>
            <a:br/>
            <a:r>
              <a:t>Tripwire Value: A triaged Risk Radar surfacing at-risk students in seconds, 1-click batch attendance register, and pre-computed actionable intervention targets.</a:t>
            </a:r>
          </a:p>
        </p:txBody>
      </p:sp>
      <p:sp>
        <p:nvSpPr>
          <p:cNvPr id="7" name="Rounded Rectangle 6"/>
          <p:cNvSpPr/>
          <p:nvPr/>
        </p:nvSpPr>
        <p:spPr>
          <a:xfrm>
            <a:off x="731520" y="2670048"/>
            <a:ext cx="10728655" cy="1078992"/>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43200"/>
            <a:ext cx="10149840" cy="932688"/>
          </a:xfrm>
          <a:prstGeom prst="rect">
            <a:avLst/>
          </a:prstGeom>
          <a:noFill/>
        </p:spPr>
        <p:txBody>
          <a:bodyPr wrap="square">
            <a:spAutoFit/>
          </a:bodyPr>
          <a:lstStyle/>
          <a:p>
            <a:pPr>
              <a:defRPr sz="1300" b="1">
                <a:solidFill>
                  <a:srgbClr val="0EA5E9"/>
                </a:solidFill>
              </a:defRPr>
            </a:pPr>
            <a:r>
              <a:t>Course Instructors &amp; Subject Lecturers</a:t>
            </a:r>
          </a:p>
          <a:p>
            <a:pPr>
              <a:defRPr sz="1000">
                <a:solidFill>
                  <a:srgbClr val="94A3B8"/>
                </a:solidFill>
              </a:defRPr>
            </a:pPr>
            <a:r>
              <a:t>Pain Point: Cannot identify which students are falling behind across multi-section classes.</a:t>
            </a:r>
            <a:br/>
            <a:r>
              <a:t>Tripwire Value: Instant multi-period classroom attendance marking with automated real-time velocity recomputation and morning absence detection.</a:t>
            </a:r>
          </a:p>
        </p:txBody>
      </p:sp>
      <p:sp>
        <p:nvSpPr>
          <p:cNvPr id="9" name="Rounded Rectangle 8"/>
          <p:cNvSpPr/>
          <p:nvPr/>
        </p:nvSpPr>
        <p:spPr>
          <a:xfrm>
            <a:off x="731520" y="3877056"/>
            <a:ext cx="10728655" cy="1078992"/>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50208"/>
            <a:ext cx="10149840" cy="932688"/>
          </a:xfrm>
          <a:prstGeom prst="rect">
            <a:avLst/>
          </a:prstGeom>
          <a:noFill/>
        </p:spPr>
        <p:txBody>
          <a:bodyPr wrap="square">
            <a:spAutoFit/>
          </a:bodyPr>
          <a:lstStyle/>
          <a:p>
            <a:pPr>
              <a:defRPr sz="1300" b="1">
                <a:solidFill>
                  <a:srgbClr val="10B981"/>
                </a:solidFill>
              </a:defRPr>
            </a:pPr>
            <a:r>
              <a:t>Heads of Department (HOD) &amp; Academic Deans</a:t>
            </a:r>
          </a:p>
          <a:p>
            <a:pPr>
              <a:defRPr sz="1000">
                <a:solidFill>
                  <a:srgbClr val="94A3B8"/>
                </a:solidFill>
              </a:defRPr>
            </a:pPr>
            <a:r>
              <a:t>Pain Point: Lack department-wide compliance visibility; discover high failure rates only at semester audit.</a:t>
            </a:r>
            <a:br/>
            <a:r>
              <a:t>Tripwire Value: Real-time cohort health distribution heatmaps, faculty intervention velocity audits, and retention compliance tracking.</a:t>
            </a:r>
          </a:p>
        </p:txBody>
      </p:sp>
      <p:sp>
        <p:nvSpPr>
          <p:cNvPr id="11" name="Rounded Rectangle 10"/>
          <p:cNvSpPr/>
          <p:nvPr/>
        </p:nvSpPr>
        <p:spPr>
          <a:xfrm>
            <a:off x="731520" y="5084064"/>
            <a:ext cx="10728655" cy="1078992"/>
          </a:xfrm>
          <a:prstGeom prst="roundRect">
            <a:avLst/>
          </a:prstGeom>
          <a:solidFill>
            <a:srgbClr val="131A2B"/>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57216"/>
            <a:ext cx="10149840" cy="932688"/>
          </a:xfrm>
          <a:prstGeom prst="rect">
            <a:avLst/>
          </a:prstGeom>
          <a:noFill/>
        </p:spPr>
        <p:txBody>
          <a:bodyPr wrap="square">
            <a:spAutoFit/>
          </a:bodyPr>
          <a:lstStyle/>
          <a:p>
            <a:pPr>
              <a:defRPr sz="1300" b="1">
                <a:solidFill>
                  <a:srgbClr val="F8FAFC"/>
                </a:solidFill>
              </a:defRPr>
            </a:pPr>
            <a:r>
              <a:t>Students (Direct Beneficiaries)</a:t>
            </a:r>
          </a:p>
          <a:p>
            <a:pPr>
              <a:defRPr sz="1000">
                <a:solidFill>
                  <a:srgbClr val="94A3B8"/>
                </a:solidFill>
              </a:defRPr>
            </a:pPr>
            <a:r>
              <a:t>Pain Point: Trapped by unexpected exam debarment; public 'high risk' labels cause shame and stereotype threat.</a:t>
            </a:r>
            <a:br/>
            <a:r>
              <a:t>Tripwire Value: A private, dignified safety net. Students are never publicly labeled or stigmatized; approved medical/duty leaves are mathematically protected.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3. EXISTING GAPS OR LIMITATIONS</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Why Standard College ERPs (ETLAB) &amp; Generic EWS Fall Short</a:t>
            </a:r>
          </a:p>
          <a:p>
            <a:pPr>
              <a:defRPr sz="1150">
                <a:solidFill>
                  <a:srgbClr val="94A3B8"/>
                </a:solidFill>
              </a:defRPr>
            </a:pPr>
            <a:r>
              <a:t>Four critical structural limitations that leave institutions vulnerable to student dropout.</a:t>
            </a:r>
          </a:p>
        </p:txBody>
      </p:sp>
      <p:sp>
        <p:nvSpPr>
          <p:cNvPr id="5" name="Rounded Rectangle 4"/>
          <p:cNvSpPr/>
          <p:nvPr/>
        </p:nvSpPr>
        <p:spPr>
          <a:xfrm>
            <a:off x="731520" y="1463040"/>
            <a:ext cx="5257800" cy="219456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800600" cy="1920240"/>
          </a:xfrm>
          <a:prstGeom prst="rect">
            <a:avLst/>
          </a:prstGeom>
          <a:noFill/>
        </p:spPr>
        <p:txBody>
          <a:bodyPr wrap="square">
            <a:spAutoFit/>
          </a:bodyPr>
          <a:lstStyle/>
          <a:p>
            <a:pPr>
              <a:defRPr sz="1300" b="1">
                <a:solidFill>
                  <a:srgbClr val="F8FAFC"/>
                </a:solidFill>
              </a:defRPr>
            </a:pPr>
            <a:r>
              <a:t>1. Purely Passive Ledger Design</a:t>
            </a:r>
          </a:p>
          <a:p>
            <a:br/>
            <a:pPr>
              <a:defRPr sz="1050">
                <a:solidFill>
                  <a:srgbClr val="94A3B8"/>
                </a:solidFill>
              </a:defRPr>
            </a:pPr>
            <a:r>
              <a:t>College ERPs like ETLAB function strictly as administrative databases. They record daily attendance and marks accurately, but offer zero velocity modeling. They tell faculty where a student was yesterday, but cannot predict where they are heading next month.</a:t>
            </a:r>
          </a:p>
        </p:txBody>
      </p:sp>
      <p:sp>
        <p:nvSpPr>
          <p:cNvPr id="7" name="Rounded Rectangle 6"/>
          <p:cNvSpPr/>
          <p:nvPr/>
        </p:nvSpPr>
        <p:spPr>
          <a:xfrm>
            <a:off x="6172200" y="1463040"/>
            <a:ext cx="52578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00600" cy="1920240"/>
          </a:xfrm>
          <a:prstGeom prst="rect">
            <a:avLst/>
          </a:prstGeom>
          <a:noFill/>
        </p:spPr>
        <p:txBody>
          <a:bodyPr wrap="square">
            <a:spAutoFit/>
          </a:bodyPr>
          <a:lstStyle/>
          <a:p>
            <a:pPr>
              <a:defRPr sz="1300" b="1">
                <a:solidFill>
                  <a:srgbClr val="F8FAFC"/>
                </a:solidFill>
              </a:defRPr>
            </a:pPr>
            <a:r>
              <a:t>2. Blunt Universal 75% Cutoffs</a:t>
            </a:r>
          </a:p>
          <a:p>
            <a:br/>
            <a:pPr>
              <a:defRPr sz="1050">
                <a:solidFill>
                  <a:srgbClr val="94A3B8"/>
                </a:solidFill>
              </a:defRPr>
            </a:pPr>
            <a:r>
              <a:t>Traditional systems only sound alarms when attendance crosses 75%. They completely miss an honors student whose attendance rapidly plummets from 98% to 76% (an acute crisis), while continually flagging chronic 72% students whose performance is stable.</a:t>
            </a:r>
          </a:p>
        </p:txBody>
      </p:sp>
      <p:sp>
        <p:nvSpPr>
          <p:cNvPr id="9" name="Rounded Rectangle 8"/>
          <p:cNvSpPr/>
          <p:nvPr/>
        </p:nvSpPr>
        <p:spPr>
          <a:xfrm>
            <a:off x="731520" y="3840480"/>
            <a:ext cx="5257800" cy="219456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977640"/>
            <a:ext cx="4800600" cy="1920240"/>
          </a:xfrm>
          <a:prstGeom prst="rect">
            <a:avLst/>
          </a:prstGeom>
          <a:noFill/>
        </p:spPr>
        <p:txBody>
          <a:bodyPr wrap="square">
            <a:spAutoFit/>
          </a:bodyPr>
          <a:lstStyle/>
          <a:p>
            <a:pPr>
              <a:defRPr sz="1300" b="1">
                <a:solidFill>
                  <a:srgbClr val="F8FAFC"/>
                </a:solidFill>
              </a:defRPr>
            </a:pPr>
            <a:r>
              <a:t>3. Alert Fatigue from Transient Noise</a:t>
            </a:r>
          </a:p>
          <a:p>
            <a:br/>
            <a:pPr>
              <a:defRPr sz="1050">
                <a:solidFill>
                  <a:srgbClr val="94A3B8"/>
                </a:solidFill>
              </a:defRPr>
            </a:pPr>
            <a:r>
              <a:t>Rule-based platforms treat every single absence equally. A 2-day bout of food poisoning triggers immediate warning emails, overwhelming professors with false alarms and causing them to ignore genuine alerts.</a:t>
            </a:r>
          </a:p>
        </p:txBody>
      </p:sp>
      <p:sp>
        <p:nvSpPr>
          <p:cNvPr id="11" name="Rounded Rectangle 10"/>
          <p:cNvSpPr/>
          <p:nvPr/>
        </p:nvSpPr>
        <p:spPr>
          <a:xfrm>
            <a:off x="6172200" y="3840480"/>
            <a:ext cx="52578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977640"/>
            <a:ext cx="4800600" cy="1920240"/>
          </a:xfrm>
          <a:prstGeom prst="rect">
            <a:avLst/>
          </a:prstGeom>
          <a:noFill/>
        </p:spPr>
        <p:txBody>
          <a:bodyPr wrap="square">
            <a:spAutoFit/>
          </a:bodyPr>
          <a:lstStyle/>
          <a:p>
            <a:pPr>
              <a:defRPr sz="1300" b="1">
                <a:solidFill>
                  <a:srgbClr val="F8FAFC"/>
                </a:solidFill>
              </a:defRPr>
            </a:pPr>
            <a:r>
              <a:t>4. Black-Box Opacity &amp; No Actionable Guidance</a:t>
            </a:r>
          </a:p>
          <a:p>
            <a:br/>
            <a:pPr>
              <a:defRPr sz="1050">
                <a:solidFill>
                  <a:srgbClr val="94A3B8"/>
                </a:solidFill>
              </a:defRPr>
            </a:pPr>
            <a:r>
              <a:t>Predictive learning analytics tools output opaque risk scores ('0.84 High Risk') without explanation. Faculty mentors are left asking: 'Why was Rahul flagged, and what specific action can I ask him to take to recover?'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4. PROPOSED SOLUTION</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Tripwire: The Behavioral Early-Warning Intelligence Layer for College ERPs</a:t>
            </a:r>
          </a:p>
          <a:p>
            <a:pPr>
              <a:defRPr sz="1150">
                <a:solidFill>
                  <a:srgbClr val="94A3B8"/>
                </a:solidFill>
              </a:defRPr>
            </a:pPr>
            <a:r>
              <a:t>A lightweight, mathematically rigorous AI layer that seamlessly supercharges systems like ETLAB.</a:t>
            </a:r>
          </a:p>
        </p:txBody>
      </p:sp>
      <p:sp>
        <p:nvSpPr>
          <p:cNvPr id="5" name="Rounded Rectangle 4"/>
          <p:cNvSpPr/>
          <p:nvPr/>
        </p:nvSpPr>
        <p:spPr>
          <a:xfrm>
            <a:off x="731520" y="1463040"/>
            <a:ext cx="10728655" cy="466344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10149840" cy="4206240"/>
          </a:xfrm>
          <a:prstGeom prst="rect">
            <a:avLst/>
          </a:prstGeom>
          <a:noFill/>
        </p:spPr>
        <p:txBody>
          <a:bodyPr wrap="square">
            <a:spAutoFit/>
          </a:bodyPr>
          <a:lstStyle/>
          <a:p>
            <a:pPr>
              <a:defRPr sz="1500" b="1">
                <a:solidFill>
                  <a:srgbClr val="6366F1"/>
                </a:solidFill>
              </a:defRPr>
            </a:pPr>
            <a:r>
              <a:t>HOW TRIPWIRE SUPERCHARGES STANDARD CAMPUS SYSTEMS (ETLAB / LINWAYS)</a:t>
            </a:r>
          </a:p>
          <a:p>
            <a:br/>
            <a:pPr>
              <a:defRPr b="1" sz="1100">
                <a:solidFill>
                  <a:srgbClr val="F8FAFC"/>
                </a:solidFill>
              </a:defRPr>
            </a:pPr>
            <a:r>
              <a:t>✔ Non-Disruptive ERP Integration: </a:t>
            </a:r>
          </a:p>
          <a:p>
            <a:pPr>
              <a:defRPr sz="1000">
                <a:solidFill>
                  <a:srgbClr val="94A3B8"/>
                </a:solidFill>
              </a:defRPr>
            </a:pPr>
            <a:r>
              <a:t>   Colleges keep their existing ERP. Tripwire sits as an intelligent microservice layer, continuously ingesting period attendance, Series Exam marks, assignment submission logs, and approved medical leaves via standard REST APIs or CSV sync.</a:t>
            </a:r>
          </a:p>
          <a:p>
            <a:br/>
            <a:pPr>
              <a:defRPr b="1" sz="1100">
                <a:solidFill>
                  <a:srgbClr val="F8FAFC"/>
                </a:solidFill>
              </a:defRPr>
            </a:pPr>
            <a:r>
              <a:t>✔ The Disengagement Velocity Index (DVI): </a:t>
            </a:r>
          </a:p>
          <a:p>
            <a:pPr>
              <a:defRPr sz="1000">
                <a:solidFill>
                  <a:srgbClr val="94A3B8"/>
                </a:solidFill>
              </a:defRPr>
            </a:pPr>
            <a:r>
              <a:t>   Replaces blunt static cutoffs with individual baseline drift modeling: DVI = (0.30 × Series Exam Drift) + (0.30 × Attendance Drift) + (0.30 × Submission Delay Drift) + (0.10 × LMS Engagement Drift). Normalized 0–100 scale.</a:t>
            </a:r>
          </a:p>
          <a:p>
            <a:br/>
            <a:pPr>
              <a:defRPr b="1" sz="1100">
                <a:solidFill>
                  <a:srgbClr val="F8FAFC"/>
                </a:solidFill>
              </a:defRPr>
            </a:pPr>
            <a:r>
              <a:t>✔ Noise-Suppression via EWMA: </a:t>
            </a:r>
          </a:p>
          <a:p>
            <a:pPr>
              <a:defRPr sz="1000">
                <a:solidFill>
                  <a:srgbClr val="94A3B8"/>
                </a:solidFill>
              </a:defRPr>
            </a:pPr>
            <a:r>
              <a:t>   Exponentially Weighted Moving Average smoothing (alpha=0.30) filters out 1-off transient shocks (flu, single hectic week) while isolating genuine, sustained multi-week behavioral decline.</a:t>
            </a:r>
          </a:p>
          <a:p>
            <a:br/>
            <a:pPr>
              <a:defRPr b="1" sz="1100">
                <a:solidFill>
                  <a:srgbClr val="F8FAFC"/>
                </a:solidFill>
              </a:defRPr>
            </a:pPr>
            <a:r>
              <a:t>✔ Counterfactual Explainable AI (XAI): </a:t>
            </a:r>
          </a:p>
          <a:p>
            <a:pPr>
              <a:defRPr sz="1000">
                <a:solidFill>
                  <a:srgbClr val="94A3B8"/>
                </a:solidFill>
              </a:defRPr>
            </a:pPr>
            <a:r>
              <a:t>   Computes actionable 'what-if' pathways: 'If student attends upcoming lab sessions and submits Assignment 3 on time, projected DVI falls from 74 to 48, averting academic probation.'</a:t>
            </a:r>
          </a:p>
          <a:p>
            <a:br/>
            <a:pPr>
              <a:defRPr b="1" sz="1100">
                <a:solidFill>
                  <a:srgbClr val="F8FAFC"/>
                </a:solidFill>
              </a:defRPr>
            </a:pPr>
            <a:r>
              <a:t>✔ Closed-Loop Intervention Tracking: </a:t>
            </a:r>
          </a:p>
          <a:p>
            <a:pPr>
              <a:defRPr sz="1000">
                <a:solidFill>
                  <a:srgbClr val="94A3B8"/>
                </a:solidFill>
              </a:defRPr>
            </a:pPr>
            <a:r>
              <a:t>   Enables mentors to log in-person meetings or support referrals in 30 seconds, automatically tracking post-intervention recovery velocity via a dual-threshold hysteresis state machine.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ACADEMIC CRITERIA &amp; STATUTORY COMPLIANCE</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Connecting Behavioral Drift to University Exam Eligibility &amp; Debarment Rules</a:t>
            </a:r>
          </a:p>
          <a:p>
            <a:pPr>
              <a:defRPr sz="1150">
                <a:solidFill>
                  <a:srgbClr val="94A3B8"/>
                </a:solidFill>
              </a:defRPr>
            </a:pPr>
            <a:r>
              <a:t>Bridging the gap between real-time behavioral telemetry and statutory KTU / ERP criteria.</a:t>
            </a:r>
          </a:p>
        </p:txBody>
      </p:sp>
      <p:sp>
        <p:nvSpPr>
          <p:cNvPr id="5" name="Rounded Rectangle 4"/>
          <p:cNvSpPr/>
          <p:nvPr/>
        </p:nvSpPr>
        <p:spPr>
          <a:xfrm>
            <a:off x="731520" y="1463040"/>
            <a:ext cx="5257800" cy="219456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800600" cy="1920240"/>
          </a:xfrm>
          <a:prstGeom prst="rect">
            <a:avLst/>
          </a:prstGeom>
          <a:noFill/>
        </p:spPr>
        <p:txBody>
          <a:bodyPr wrap="square">
            <a:spAutoFit/>
          </a:bodyPr>
          <a:lstStyle/>
          <a:p>
            <a:pPr>
              <a:defRPr sz="1300" b="1">
                <a:solidFill>
                  <a:srgbClr val="EF4444"/>
                </a:solidFill>
              </a:defRPr>
            </a:pPr>
            <a:r>
              <a:t>Statutory Attendance Cutoff (&gt;= 75.0%)</a:t>
            </a:r>
          </a:p>
          <a:p>
            <a:br/>
            <a:pPr>
              <a:defRPr sz="1050">
                <a:solidFill>
                  <a:srgbClr val="94A3B8"/>
                </a:solidFill>
              </a:defRPr>
            </a:pPr>
            <a:r>
              <a:t>Technical university regulations (KTU) mandate &gt;= 75% attendance for semester exam registration. Tripwire monitors this boundary continuously, alerting mentors when velocity indicates a student is on trajectory to breach 75% weeks before hall tickets close.</a:t>
            </a:r>
          </a:p>
        </p:txBody>
      </p:sp>
      <p:sp>
        <p:nvSpPr>
          <p:cNvPr id="7" name="Rounded Rectangle 6"/>
          <p:cNvSpPr/>
          <p:nvPr/>
        </p:nvSpPr>
        <p:spPr>
          <a:xfrm>
            <a:off x="6172200" y="1463040"/>
            <a:ext cx="52578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00600" cy="1920240"/>
          </a:xfrm>
          <a:prstGeom prst="rect">
            <a:avLst/>
          </a:prstGeom>
          <a:noFill/>
        </p:spPr>
        <p:txBody>
          <a:bodyPr wrap="square">
            <a:spAutoFit/>
          </a:bodyPr>
          <a:lstStyle/>
          <a:p>
            <a:pPr>
              <a:defRPr sz="1300" b="1">
                <a:solidFill>
                  <a:srgbClr val="F59E0B"/>
                </a:solidFill>
              </a:defRPr>
            </a:pPr>
            <a:r>
              <a:t>Series Exam Qualifying Benchmark (&gt;= 45.0%)</a:t>
            </a:r>
          </a:p>
          <a:p>
            <a:br/>
            <a:pPr>
              <a:defRPr sz="1050">
                <a:solidFill>
                  <a:srgbClr val="94A3B8"/>
                </a:solidFill>
              </a:defRPr>
            </a:pPr>
            <a:r>
              <a:t>Series exams serve as the primary internal benchmark. Tripwire tracks Series mark drift (30% DVI weight) against student personal baseline, catching sudden academic drops even if attendance remains acceptable.</a:t>
            </a:r>
          </a:p>
        </p:txBody>
      </p:sp>
      <p:sp>
        <p:nvSpPr>
          <p:cNvPr id="9" name="Rounded Rectangle 8"/>
          <p:cNvSpPr/>
          <p:nvPr/>
        </p:nvSpPr>
        <p:spPr>
          <a:xfrm>
            <a:off x="731520" y="3840480"/>
            <a:ext cx="5257800" cy="219456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977640"/>
            <a:ext cx="4800600" cy="1920240"/>
          </a:xfrm>
          <a:prstGeom prst="rect">
            <a:avLst/>
          </a:prstGeom>
          <a:noFill/>
        </p:spPr>
        <p:txBody>
          <a:bodyPr wrap="square">
            <a:spAutoFit/>
          </a:bodyPr>
          <a:lstStyle/>
          <a:p>
            <a:pPr>
              <a:defRPr sz="1300" b="1">
                <a:solidFill>
                  <a:srgbClr val="0EA5E9"/>
                </a:solidFill>
              </a:defRPr>
            </a:pPr>
            <a:r>
              <a:t>CIE Passing Mark Standard (&gt;= 40.0%)</a:t>
            </a:r>
          </a:p>
          <a:p>
            <a:br/>
            <a:pPr>
              <a:defRPr sz="1050">
                <a:solidFill>
                  <a:srgbClr val="94A3B8"/>
                </a:solidFill>
              </a:defRPr>
            </a:pPr>
            <a:r>
              <a:t>Continuous Internal Evaluation requires &gt;= 40% to qualify for final exams. Tripwire projects expected CIE marks based on behavioral velocity, identifying mark shortfalls long before semester mark sheets freeze.</a:t>
            </a:r>
          </a:p>
        </p:txBody>
      </p:sp>
      <p:sp>
        <p:nvSpPr>
          <p:cNvPr id="11" name="Rounded Rectangle 10"/>
          <p:cNvSpPr/>
          <p:nvPr/>
        </p:nvSpPr>
        <p:spPr>
          <a:xfrm>
            <a:off x="6172200" y="3840480"/>
            <a:ext cx="5257800" cy="219456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977640"/>
            <a:ext cx="4800600" cy="1920240"/>
          </a:xfrm>
          <a:prstGeom prst="rect">
            <a:avLst/>
          </a:prstGeom>
          <a:noFill/>
        </p:spPr>
        <p:txBody>
          <a:bodyPr wrap="square">
            <a:spAutoFit/>
          </a:bodyPr>
          <a:lstStyle/>
          <a:p>
            <a:pPr>
              <a:defRPr sz="1300" b="1">
                <a:solidFill>
                  <a:srgbClr val="10B981"/>
                </a:solidFill>
              </a:defRPr>
            </a:pPr>
            <a:r>
              <a:t>DVI Risk Escalation Thresholds</a:t>
            </a:r>
          </a:p>
          <a:p>
            <a:br/>
            <a:pPr>
              <a:defRPr sz="1050">
                <a:solidFill>
                  <a:srgbClr val="94A3B8"/>
                </a:solidFill>
              </a:defRPr>
            </a:pPr>
            <a:r>
              <a:t>Deterministic 4-tier decision support: DVI &gt;= 70 (Tripwire Critical - Debarment/Failure Imminent); DVI 50–69 (Monitoring - CIE Vulnerability); DVI 35–49 (Watch - Academic Drift); DVI &lt; 35 (Normal Standing).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5. INNOVATION / UNIQUE CONTRIBUTION</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Five Algorithmic Breakthroughs in Student Drift Detection</a:t>
            </a:r>
          </a:p>
          <a:p>
            <a:pPr>
              <a:defRPr sz="1150">
                <a:solidFill>
                  <a:srgbClr val="94A3B8"/>
                </a:solidFill>
              </a:defRPr>
            </a:pPr>
            <a:r>
              <a:t>Moving beyond simple heuristics to production-grade, mathematically defensible AI.</a:t>
            </a:r>
          </a:p>
        </p:txBody>
      </p:sp>
      <p:sp>
        <p:nvSpPr>
          <p:cNvPr id="5" name="Rounded Rectangle 4"/>
          <p:cNvSpPr/>
          <p:nvPr/>
        </p:nvSpPr>
        <p:spPr>
          <a:xfrm>
            <a:off x="731520" y="1463040"/>
            <a:ext cx="10728655" cy="896112"/>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17904"/>
            <a:ext cx="10149840" cy="777240"/>
          </a:xfrm>
          <a:prstGeom prst="rect">
            <a:avLst/>
          </a:prstGeom>
          <a:noFill/>
        </p:spPr>
        <p:txBody>
          <a:bodyPr wrap="square">
            <a:spAutoFit/>
          </a:bodyPr>
          <a:lstStyle/>
          <a:p>
            <a:pPr>
              <a:defRPr sz="1200" b="1">
                <a:solidFill>
                  <a:srgbClr val="6366F1"/>
                </a:solidFill>
              </a:defRPr>
            </a:pPr>
            <a:r>
              <a:t>1. Personal Baselines &amp; EWMA Smoothing</a:t>
            </a:r>
          </a:p>
          <a:p>
            <a:pPr>
              <a:defRPr sz="950">
                <a:solidFill>
                  <a:srgbClr val="F8FAFC"/>
                </a:solidFill>
              </a:defRPr>
            </a:pPr>
            <a:r>
              <a:t>Instead of rigid cutoffs, Tripwire calibrates a student's personal baseline over initial telemetry. It applies Exponentially Weighted Moving Average (EWMA, alpha=0.30) temporal smoothing: S_t = alpha*X_t + (1-alpha)*S_{t-1}. Transient illnesses produce zero false alarms, while sustained 2-week decay triggers immediate triage.</a:t>
            </a:r>
          </a:p>
        </p:txBody>
      </p:sp>
      <p:sp>
        <p:nvSpPr>
          <p:cNvPr id="7" name="Rounded Rectangle 6"/>
          <p:cNvSpPr/>
          <p:nvPr/>
        </p:nvSpPr>
        <p:spPr>
          <a:xfrm>
            <a:off x="731520" y="2423160"/>
            <a:ext cx="10728655" cy="896112"/>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78024"/>
            <a:ext cx="10149840" cy="777240"/>
          </a:xfrm>
          <a:prstGeom prst="rect">
            <a:avLst/>
          </a:prstGeom>
          <a:noFill/>
        </p:spPr>
        <p:txBody>
          <a:bodyPr wrap="square">
            <a:spAutoFit/>
          </a:bodyPr>
          <a:lstStyle/>
          <a:p>
            <a:pPr>
              <a:defRPr sz="1200" b="1">
                <a:solidFill>
                  <a:srgbClr val="0EA5E9"/>
                </a:solidFill>
              </a:defRPr>
            </a:pPr>
            <a:r>
              <a:t>2. Bayesian Cold-Start Prior Blending</a:t>
            </a:r>
          </a:p>
          <a:p>
            <a:pPr>
              <a:defRPr sz="950">
                <a:solidFill>
                  <a:srgbClr val="F8FAFC"/>
                </a:solidFill>
              </a:defRPr>
            </a:pPr>
            <a:r>
              <a:t>Solves the first-year or transfer student 'blank slate' problem. For students with &lt; 3 weeks of historical data, Tripwire blends individual data with cohort medians using Bayesian priors: Effective_Baseline = w*Student_Base + (1-w)*Cohort_Median. Eliminates early-semester blindspots.</a:t>
            </a:r>
          </a:p>
        </p:txBody>
      </p:sp>
      <p:sp>
        <p:nvSpPr>
          <p:cNvPr id="9" name="Rounded Rectangle 8"/>
          <p:cNvSpPr/>
          <p:nvPr/>
        </p:nvSpPr>
        <p:spPr>
          <a:xfrm>
            <a:off x="731520" y="3383280"/>
            <a:ext cx="10728655" cy="896112"/>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38144"/>
            <a:ext cx="10149840" cy="777240"/>
          </a:xfrm>
          <a:prstGeom prst="rect">
            <a:avLst/>
          </a:prstGeom>
          <a:noFill/>
        </p:spPr>
        <p:txBody>
          <a:bodyPr wrap="square">
            <a:spAutoFit/>
          </a:bodyPr>
          <a:lstStyle/>
          <a:p>
            <a:pPr>
              <a:defRPr sz="1200" b="1">
                <a:solidFill>
                  <a:srgbClr val="10B981"/>
                </a:solidFill>
              </a:defRPr>
            </a:pPr>
            <a:r>
              <a:t>3. Approved Duty-Leave Mathematical Masking</a:t>
            </a:r>
          </a:p>
          <a:p>
            <a:pPr>
              <a:defRPr sz="950">
                <a:solidFill>
                  <a:srgbClr val="F8FAFC"/>
                </a:solidFill>
              </a:defRPr>
            </a:pPr>
            <a:r>
              <a:t>Unlike standard ERPs that record duty leaves as unexcused absences until manual end-of-term audit, Tripwire ingests approved leaves directly. Verified medical/hackathon dates are mathematically excluded from drift penalties. Campus achievers are never penalized.</a:t>
            </a:r>
          </a:p>
        </p:txBody>
      </p:sp>
      <p:sp>
        <p:nvSpPr>
          <p:cNvPr id="11" name="Rounded Rectangle 10"/>
          <p:cNvSpPr/>
          <p:nvPr/>
        </p:nvSpPr>
        <p:spPr>
          <a:xfrm>
            <a:off x="731520" y="4343400"/>
            <a:ext cx="10728655" cy="896112"/>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398264"/>
            <a:ext cx="10149840" cy="777240"/>
          </a:xfrm>
          <a:prstGeom prst="rect">
            <a:avLst/>
          </a:prstGeom>
          <a:noFill/>
        </p:spPr>
        <p:txBody>
          <a:bodyPr wrap="square">
            <a:spAutoFit/>
          </a:bodyPr>
          <a:lstStyle/>
          <a:p>
            <a:pPr>
              <a:defRPr sz="1200" b="1">
                <a:solidFill>
                  <a:srgbClr val="F59E0B"/>
                </a:solidFill>
              </a:defRPr>
            </a:pPr>
            <a:r>
              <a:t>4. Actionable Counterfactual Explainability (XAI)</a:t>
            </a:r>
          </a:p>
          <a:p>
            <a:pPr>
              <a:defRPr sz="950">
                <a:solidFill>
                  <a:srgbClr val="F8FAFC"/>
                </a:solidFill>
              </a:defRPr>
            </a:pPr>
            <a:r>
              <a:t>Grounded in Wachter et al. (2017) counterfactual theory: x* = argmin d(x, x') s.t. f(x') &lt; threshold. Tripwire computes the minimal feasible behavioral changes required to clear the alert, giving faculty mentors hopeful, constructive guidance instead of punitive warnings.</a:t>
            </a:r>
          </a:p>
        </p:txBody>
      </p:sp>
      <p:sp>
        <p:nvSpPr>
          <p:cNvPr id="13" name="Rounded Rectangle 12"/>
          <p:cNvSpPr/>
          <p:nvPr/>
        </p:nvSpPr>
        <p:spPr>
          <a:xfrm>
            <a:off x="731520" y="5303520"/>
            <a:ext cx="10728655" cy="896112"/>
          </a:xfrm>
          <a:prstGeom prst="roundRect">
            <a:avLst/>
          </a:prstGeom>
          <a:solidFill>
            <a:srgbClr val="131A2B"/>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58384"/>
            <a:ext cx="10149840" cy="777240"/>
          </a:xfrm>
          <a:prstGeom prst="rect">
            <a:avLst/>
          </a:prstGeom>
          <a:noFill/>
        </p:spPr>
        <p:txBody>
          <a:bodyPr wrap="square">
            <a:spAutoFit/>
          </a:bodyPr>
          <a:lstStyle/>
          <a:p>
            <a:pPr>
              <a:defRPr sz="1200" b="1">
                <a:solidFill>
                  <a:srgbClr val="F8FAFC"/>
                </a:solidFill>
              </a:defRPr>
            </a:pPr>
            <a:r>
              <a:t>5. Asymmetric Hysteresis Recovery Pipeline</a:t>
            </a:r>
          </a:p>
          <a:p>
            <a:pPr>
              <a:defRPr sz="950">
                <a:solidFill>
                  <a:srgbClr val="F8FAFC"/>
                </a:solidFill>
              </a:defRPr>
            </a:pPr>
            <a:r>
              <a:t>Prevents alert 'flapping' (rapid oscillation between normal and alert). Once triggered, an alert clears only when the student sustains DVI &lt; 55 for 2 consecutive weeks, and reaches Normal standing at DVI &lt;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6. SYSTEM / SOLUTION ARCHITECTURE</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How Tripwire Integrates with College ERP Infrastructure</a:t>
            </a:r>
          </a:p>
          <a:p>
            <a:pPr>
              <a:defRPr sz="1150">
                <a:solidFill>
                  <a:srgbClr val="94A3B8"/>
                </a:solidFill>
              </a:defRPr>
            </a:pPr>
            <a:r>
              <a:t>A lightweight, high-speed telemetry pipeline connecting institutional databases to mentor decision support.</a:t>
            </a:r>
          </a:p>
        </p:txBody>
      </p:sp>
      <p:sp>
        <p:nvSpPr>
          <p:cNvPr id="5" name="Rounded Rectangle 4"/>
          <p:cNvSpPr/>
          <p:nvPr/>
        </p:nvSpPr>
        <p:spPr>
          <a:xfrm>
            <a:off x="731520" y="1463040"/>
            <a:ext cx="2468880" cy="466344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2194560" cy="4297680"/>
          </a:xfrm>
          <a:prstGeom prst="rect">
            <a:avLst/>
          </a:prstGeom>
          <a:noFill/>
        </p:spPr>
        <p:txBody>
          <a:bodyPr wrap="square">
            <a:spAutoFit/>
          </a:bodyPr>
          <a:lstStyle/>
          <a:p>
            <a:pPr algn="ctr">
              <a:defRPr sz="1300" b="1">
                <a:solidFill>
                  <a:srgbClr val="0EA5E9"/>
                </a:solidFill>
              </a:defRPr>
            </a:pPr>
            <a:r>
              <a:t>COLLEGE ERP DATA LAYER</a:t>
            </a:r>
          </a:p>
          <a:p>
            <a:pPr algn="ctr">
              <a:defRPr sz="1000">
                <a:solidFill>
                  <a:srgbClr val="F8FAFC"/>
                </a:solidFill>
              </a:defRPr>
            </a:pPr>
            <a:br/>
            <a:r>
              <a:t>Standard College ERP</a:t>
            </a:r>
          </a:p>
          <a:p>
            <a:pPr algn="ctr">
              <a:defRPr sz="1000">
                <a:solidFill>
                  <a:srgbClr val="F8FAFC"/>
                </a:solidFill>
              </a:defRPr>
            </a:pPr>
            <a:br/>
            <a:r>
              <a:t>(ETLAB / Linways / SIS)</a:t>
            </a:r>
          </a:p>
          <a:p>
            <a:pPr algn="ctr">
              <a:defRPr sz="1000">
                <a:solidFill>
                  <a:srgbClr val="F8FAFC"/>
                </a:solidFill>
              </a:defRPr>
            </a:pPr>
            <a:br/>
            <a:r>
              <a:t>• Daily Period Attendance (1–6)</a:t>
            </a:r>
          </a:p>
          <a:p>
            <a:pPr algn="ctr">
              <a:defRPr sz="1000">
                <a:solidFill>
                  <a:srgbClr val="F8FAFC"/>
                </a:solidFill>
              </a:defRPr>
            </a:pPr>
            <a:br/>
            <a:r>
              <a:t>• Series Exam Marks (CIE)</a:t>
            </a:r>
          </a:p>
          <a:p>
            <a:pPr algn="ctr">
              <a:defRPr sz="1000">
                <a:solidFill>
                  <a:srgbClr val="F8FAFC"/>
                </a:solidFill>
              </a:defRPr>
            </a:pPr>
            <a:br/>
            <a:r>
              <a:t>• Assignment Submission Logs</a:t>
            </a:r>
          </a:p>
          <a:p>
            <a:pPr algn="ctr">
              <a:defRPr sz="1000">
                <a:solidFill>
                  <a:srgbClr val="F8FAFC"/>
                </a:solidFill>
              </a:defRPr>
            </a:pPr>
            <a:br/>
            <a:r>
              <a:t>• LMS Activity Counters</a:t>
            </a:r>
          </a:p>
          <a:p>
            <a:pPr algn="ctr">
              <a:defRPr sz="1000">
                <a:solidFill>
                  <a:srgbClr val="F8FAFC"/>
                </a:solidFill>
              </a:defRPr>
            </a:pPr>
            <a:br/>
            <a:r>
              <a:t>• Approved Medical Leaves</a:t>
            </a:r>
          </a:p>
        </p:txBody>
      </p:sp>
      <p:sp>
        <p:nvSpPr>
          <p:cNvPr id="7" name="Rounded Rectangle 6"/>
          <p:cNvSpPr/>
          <p:nvPr/>
        </p:nvSpPr>
        <p:spPr>
          <a:xfrm>
            <a:off x="3429000" y="1463040"/>
            <a:ext cx="2560320" cy="466344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645920"/>
            <a:ext cx="2286000" cy="4297680"/>
          </a:xfrm>
          <a:prstGeom prst="rect">
            <a:avLst/>
          </a:prstGeom>
          <a:noFill/>
        </p:spPr>
        <p:txBody>
          <a:bodyPr wrap="square">
            <a:spAutoFit/>
          </a:bodyPr>
          <a:lstStyle/>
          <a:p>
            <a:pPr algn="ctr">
              <a:defRPr sz="1300" b="1">
                <a:solidFill>
                  <a:srgbClr val="6366F1"/>
                </a:solidFill>
              </a:defRPr>
            </a:pPr>
            <a:r>
              <a:t>INGESTION &amp; PERSISTENCE</a:t>
            </a:r>
          </a:p>
          <a:p>
            <a:pPr algn="ctr">
              <a:defRPr sz="1000">
                <a:solidFill>
                  <a:srgbClr val="F8FAFC"/>
                </a:solidFill>
              </a:defRPr>
            </a:pPr>
            <a:br/>
            <a:r>
              <a:t>Tripwire Database Engine</a:t>
            </a:r>
          </a:p>
          <a:p>
            <a:pPr algn="ctr">
              <a:defRPr sz="1000">
                <a:solidFill>
                  <a:srgbClr val="F8FAFC"/>
                </a:solidFill>
              </a:defRPr>
            </a:pPr>
            <a:br/>
            <a:r>
              <a:t>SQLAlchemy ORM + SQLite/PG</a:t>
            </a:r>
          </a:p>
          <a:p>
            <a:pPr algn="ctr">
              <a:defRPr sz="1000">
                <a:solidFill>
                  <a:srgbClr val="F8FAFC"/>
                </a:solidFill>
              </a:defRPr>
            </a:pPr>
            <a:br/>
            <a:r>
              <a:t>• Indexed Student Telemetry</a:t>
            </a:r>
          </a:p>
          <a:p>
            <a:pPr algn="ctr">
              <a:defRPr sz="1000">
                <a:solidFill>
                  <a:srgbClr val="F8FAFC"/>
                </a:solidFill>
              </a:defRPr>
            </a:pPr>
            <a:br/>
            <a:r>
              <a:t>• Attendance Register State</a:t>
            </a:r>
          </a:p>
          <a:p>
            <a:pPr algn="ctr">
              <a:defRPr sz="1000">
                <a:solidFill>
                  <a:srgbClr val="F8FAFC"/>
                </a:solidFill>
              </a:defRPr>
            </a:pPr>
            <a:br/>
            <a:r>
              <a:t>• Leave Record Cache</a:t>
            </a:r>
          </a:p>
          <a:p>
            <a:pPr algn="ctr">
              <a:defRPr sz="1000">
                <a:solidFill>
                  <a:srgbClr val="F8FAFC"/>
                </a:solidFill>
              </a:defRPr>
            </a:pPr>
            <a:br/>
            <a:r>
              <a:t>• Historical DVI Timeseries</a:t>
            </a:r>
          </a:p>
        </p:txBody>
      </p:sp>
      <p:sp>
        <p:nvSpPr>
          <p:cNvPr id="9" name="Rounded Rectangle 8"/>
          <p:cNvSpPr/>
          <p:nvPr/>
        </p:nvSpPr>
        <p:spPr>
          <a:xfrm>
            <a:off x="6217920" y="1463040"/>
            <a:ext cx="2560320" cy="466344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45920"/>
            <a:ext cx="2286000" cy="4297680"/>
          </a:xfrm>
          <a:prstGeom prst="rect">
            <a:avLst/>
          </a:prstGeom>
          <a:noFill/>
        </p:spPr>
        <p:txBody>
          <a:bodyPr wrap="square">
            <a:spAutoFit/>
          </a:bodyPr>
          <a:lstStyle/>
          <a:p>
            <a:pPr algn="ctr">
              <a:defRPr sz="1300" b="1">
                <a:solidFill>
                  <a:srgbClr val="10B981"/>
                </a:solidFill>
              </a:defRPr>
            </a:pPr>
            <a:r>
              <a:t>PREDICTIVE DVI ENGINE</a:t>
            </a:r>
          </a:p>
          <a:p>
            <a:pPr algn="ctr">
              <a:defRPr sz="1000">
                <a:solidFill>
                  <a:srgbClr val="F8FAFC"/>
                </a:solidFill>
              </a:defRPr>
            </a:pPr>
            <a:br/>
            <a:r>
              <a:t>FastAPI Python Core</a:t>
            </a:r>
          </a:p>
          <a:p>
            <a:pPr algn="ctr">
              <a:defRPr sz="1000">
                <a:solidFill>
                  <a:srgbClr val="F8FAFC"/>
                </a:solidFill>
              </a:defRPr>
            </a:pPr>
            <a:br/>
            <a:r>
              <a:t>NumPy Matrix Computation</a:t>
            </a:r>
          </a:p>
          <a:p>
            <a:pPr algn="ctr">
              <a:defRPr sz="1000">
                <a:solidFill>
                  <a:srgbClr val="F8FAFC"/>
                </a:solidFill>
              </a:defRPr>
            </a:pPr>
            <a:br/>
            <a:r>
              <a:t>• EWMA Temporal Smoother</a:t>
            </a:r>
          </a:p>
          <a:p>
            <a:pPr algn="ctr">
              <a:defRPr sz="1000">
                <a:solidFill>
                  <a:srgbClr val="F8FAFC"/>
                </a:solidFill>
              </a:defRPr>
            </a:pPr>
            <a:br/>
            <a:r>
              <a:t>• Bayesian Cold-Start Prior</a:t>
            </a:r>
          </a:p>
          <a:p>
            <a:pPr algn="ctr">
              <a:defRPr sz="1000">
                <a:solidFill>
                  <a:srgbClr val="F8FAFC"/>
                </a:solidFill>
              </a:defRPr>
            </a:pPr>
            <a:br/>
            <a:r>
              <a:t>• Approved Leave Masker</a:t>
            </a:r>
          </a:p>
          <a:p>
            <a:pPr algn="ctr">
              <a:defRPr sz="1000">
                <a:solidFill>
                  <a:srgbClr val="F8FAFC"/>
                </a:solidFill>
              </a:defRPr>
            </a:pPr>
            <a:br/>
            <a:r>
              <a:t>• Counterfactual Generator</a:t>
            </a:r>
          </a:p>
        </p:txBody>
      </p:sp>
      <p:sp>
        <p:nvSpPr>
          <p:cNvPr id="11" name="Rounded Rectangle 10"/>
          <p:cNvSpPr/>
          <p:nvPr/>
        </p:nvSpPr>
        <p:spPr>
          <a:xfrm>
            <a:off x="9006840" y="1463040"/>
            <a:ext cx="2468880" cy="466344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645920"/>
            <a:ext cx="2194560" cy="4297680"/>
          </a:xfrm>
          <a:prstGeom prst="rect">
            <a:avLst/>
          </a:prstGeom>
          <a:noFill/>
        </p:spPr>
        <p:txBody>
          <a:bodyPr wrap="square">
            <a:spAutoFit/>
          </a:bodyPr>
          <a:lstStyle/>
          <a:p>
            <a:pPr algn="ctr">
              <a:defRPr sz="1300" b="1">
                <a:solidFill>
                  <a:srgbClr val="F59E0B"/>
                </a:solidFill>
              </a:defRPr>
            </a:pPr>
            <a:r>
              <a:t>FACULTY ADVISOR COCKPIT</a:t>
            </a:r>
          </a:p>
          <a:p>
            <a:pPr algn="ctr">
              <a:defRPr sz="1000">
                <a:solidFill>
                  <a:srgbClr val="F8FAFC"/>
                </a:solidFill>
              </a:defRPr>
            </a:pPr>
            <a:br/>
            <a:r>
              <a:t>React 18 + Vite Web Client</a:t>
            </a:r>
          </a:p>
          <a:p>
            <a:pPr algn="ctr">
              <a:defRPr sz="1000">
                <a:solidFill>
                  <a:srgbClr val="F8FAFC"/>
                </a:solidFill>
              </a:defRPr>
            </a:pPr>
            <a:br/>
            <a:r>
              <a:t>Interactive Glassmorphism UI</a:t>
            </a:r>
          </a:p>
          <a:p>
            <a:pPr algn="ctr">
              <a:defRPr sz="1000">
                <a:solidFill>
                  <a:srgbClr val="F8FAFC"/>
                </a:solidFill>
              </a:defRPr>
            </a:pPr>
            <a:br/>
            <a:r>
              <a:t>• Real-Time Risk Radar Feed</a:t>
            </a:r>
          </a:p>
          <a:p>
            <a:pPr algn="ctr">
              <a:defRPr sz="1000">
                <a:solidFill>
                  <a:srgbClr val="F8FAFC"/>
                </a:solidFill>
              </a:defRPr>
            </a:pPr>
            <a:br/>
            <a:r>
              <a:t>• One-Click Batch Register</a:t>
            </a:r>
          </a:p>
          <a:p>
            <a:pPr algn="ctr">
              <a:defRPr sz="1000">
                <a:solidFill>
                  <a:srgbClr val="F8FAFC"/>
                </a:solidFill>
              </a:defRPr>
            </a:pPr>
            <a:br/>
            <a:r>
              <a:t>• DVI Radial Gauges &amp; Alerts</a:t>
            </a:r>
          </a:p>
          <a:p>
            <a:pPr algn="ctr">
              <a:defRPr sz="1000">
                <a:solidFill>
                  <a:srgbClr val="F8FAFC"/>
                </a:solidFill>
              </a:defRPr>
            </a:pPr>
            <a:br/>
            <a:r>
              <a:t>• Closed-Loop Intervention 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7. TECHNOLOGY STACK</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High-Throughput ASGI Backend &amp; Modern Reactive Client</a:t>
            </a:r>
          </a:p>
          <a:p>
            <a:pPr>
              <a:defRPr sz="1150">
                <a:solidFill>
                  <a:srgbClr val="94A3B8"/>
                </a:solidFill>
              </a:defRPr>
            </a:pPr>
            <a:r>
              <a:t>Selected for sub-10ms calculation velocity, reliability, and zero deployment friction.</a:t>
            </a:r>
          </a:p>
        </p:txBody>
      </p:sp>
      <p:sp>
        <p:nvSpPr>
          <p:cNvPr id="5" name="Rounded Rectangle 4"/>
          <p:cNvSpPr/>
          <p:nvPr/>
        </p:nvSpPr>
        <p:spPr>
          <a:xfrm>
            <a:off x="731520" y="1463040"/>
            <a:ext cx="5257800" cy="219456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800600" cy="1920240"/>
          </a:xfrm>
          <a:prstGeom prst="rect">
            <a:avLst/>
          </a:prstGeom>
          <a:noFill/>
        </p:spPr>
        <p:txBody>
          <a:bodyPr wrap="square">
            <a:spAutoFit/>
          </a:bodyPr>
          <a:lstStyle/>
          <a:p>
            <a:pPr>
              <a:defRPr sz="1000" b="1">
                <a:solidFill>
                  <a:srgbClr val="6366F1"/>
                </a:solidFill>
              </a:defRPr>
            </a:pPr>
            <a:r>
              <a:t>BACKEND API FRAMEWORK</a:t>
            </a:r>
          </a:p>
          <a:p>
            <a:pPr>
              <a:defRPr sz="1400" b="1">
                <a:solidFill>
                  <a:srgbClr val="F8FAFC"/>
                </a:solidFill>
              </a:defRPr>
            </a:pPr>
            <a:r>
              <a:t>FastAPI (Python 3.11)</a:t>
            </a:r>
          </a:p>
          <a:p>
            <a:br/>
            <a:pPr>
              <a:defRPr sz="1000">
                <a:solidFill>
                  <a:srgbClr val="94A3B8"/>
                </a:solidFill>
              </a:defRPr>
            </a:pPr>
            <a:r>
              <a:t>Asynchronous ASGI concurrency, automatic OpenAPI documentation, strict Pydantic v2 schema validation, OAuth2 JWT stateless authentication, sub-10ms endpoint latency.</a:t>
            </a:r>
          </a:p>
        </p:txBody>
      </p:sp>
      <p:sp>
        <p:nvSpPr>
          <p:cNvPr id="7" name="Rounded Rectangle 6"/>
          <p:cNvSpPr/>
          <p:nvPr/>
        </p:nvSpPr>
        <p:spPr>
          <a:xfrm>
            <a:off x="6172200" y="1463040"/>
            <a:ext cx="5257800" cy="219456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00600" cy="1920240"/>
          </a:xfrm>
          <a:prstGeom prst="rect">
            <a:avLst/>
          </a:prstGeom>
          <a:noFill/>
        </p:spPr>
        <p:txBody>
          <a:bodyPr wrap="square">
            <a:spAutoFit/>
          </a:bodyPr>
          <a:lstStyle/>
          <a:p>
            <a:pPr>
              <a:defRPr sz="1000" b="1">
                <a:solidFill>
                  <a:srgbClr val="0EA5E9"/>
                </a:solidFill>
              </a:defRPr>
            </a:pPr>
            <a:r>
              <a:t>MATHEMATICAL ENGINE</a:t>
            </a:r>
          </a:p>
          <a:p>
            <a:pPr>
              <a:defRPr sz="1400" b="1">
                <a:solidFill>
                  <a:srgbClr val="F8FAFC"/>
                </a:solidFill>
              </a:defRPr>
            </a:pPr>
            <a:r>
              <a:t>NumPy &amp; Custom Analytical Core</a:t>
            </a:r>
          </a:p>
          <a:p>
            <a:br/>
            <a:pPr>
              <a:defRPr sz="1000">
                <a:solidFill>
                  <a:srgbClr val="94A3B8"/>
                </a:solidFill>
              </a:defRPr>
            </a:pPr>
            <a:r>
              <a:t>Vectorized array processing for EWMA smoothing, Bayesian prior calculations, and counterfactual simulation. Computes full cohort DVI scores across 50 students in &lt; 200ms.</a:t>
            </a:r>
          </a:p>
        </p:txBody>
      </p:sp>
      <p:sp>
        <p:nvSpPr>
          <p:cNvPr id="9" name="Rounded Rectangle 8"/>
          <p:cNvSpPr/>
          <p:nvPr/>
        </p:nvSpPr>
        <p:spPr>
          <a:xfrm>
            <a:off x="731520" y="3840480"/>
            <a:ext cx="5257800" cy="219456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977640"/>
            <a:ext cx="4800600" cy="1920240"/>
          </a:xfrm>
          <a:prstGeom prst="rect">
            <a:avLst/>
          </a:prstGeom>
          <a:noFill/>
        </p:spPr>
        <p:txBody>
          <a:bodyPr wrap="square">
            <a:spAutoFit/>
          </a:bodyPr>
          <a:lstStyle/>
          <a:p>
            <a:pPr>
              <a:defRPr sz="1000" b="1">
                <a:solidFill>
                  <a:srgbClr val="10B981"/>
                </a:solidFill>
              </a:defRPr>
            </a:pPr>
            <a:r>
              <a:t>PERSISTENCE &amp; ORM</a:t>
            </a:r>
          </a:p>
          <a:p>
            <a:pPr>
              <a:defRPr sz="1400" b="1">
                <a:solidFill>
                  <a:srgbClr val="F8FAFC"/>
                </a:solidFill>
              </a:defRPr>
            </a:pPr>
            <a:r>
              <a:t>SQLAlchemy 2.0 &amp; SQLite / PostgreSQL</a:t>
            </a:r>
          </a:p>
          <a:p>
            <a:br/>
            <a:pPr>
              <a:defRPr sz="1000">
                <a:solidFill>
                  <a:srgbClr val="94A3B8"/>
                </a:solidFill>
              </a:defRPr>
            </a:pPr>
            <a:r>
              <a:t>Relational ACID compliance, optimized indexed queries for multi-period student attendance records, clean migration path to enterprise PostgreSQL clusters.</a:t>
            </a:r>
          </a:p>
        </p:txBody>
      </p:sp>
      <p:sp>
        <p:nvSpPr>
          <p:cNvPr id="11" name="Rounded Rectangle 10"/>
          <p:cNvSpPr/>
          <p:nvPr/>
        </p:nvSpPr>
        <p:spPr>
          <a:xfrm>
            <a:off x="6172200" y="3840480"/>
            <a:ext cx="52578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977640"/>
            <a:ext cx="4800600" cy="1920240"/>
          </a:xfrm>
          <a:prstGeom prst="rect">
            <a:avLst/>
          </a:prstGeom>
          <a:noFill/>
        </p:spPr>
        <p:txBody>
          <a:bodyPr wrap="square">
            <a:spAutoFit/>
          </a:bodyPr>
          <a:lstStyle/>
          <a:p>
            <a:pPr>
              <a:defRPr sz="1000" b="1">
                <a:solidFill>
                  <a:srgbClr val="F59E0B"/>
                </a:solidFill>
              </a:defRPr>
            </a:pPr>
            <a:r>
              <a:t>FRONTEND INTERFACE</a:t>
            </a:r>
          </a:p>
          <a:p>
            <a:pPr>
              <a:defRPr sz="1400" b="1">
                <a:solidFill>
                  <a:srgbClr val="F8FAFC"/>
                </a:solidFill>
              </a:defRPr>
            </a:pPr>
            <a:r>
              <a:t>React 18, Vite &amp; Recharts</a:t>
            </a:r>
          </a:p>
          <a:p>
            <a:br/>
            <a:pPr>
              <a:defRPr sz="1000">
                <a:solidFill>
                  <a:srgbClr val="94A3B8"/>
                </a:solidFill>
              </a:defRPr>
            </a:pPr>
            <a:r>
              <a:t>Sub-second Hot Module Replacement (HMR), SVG radial gauge rendering, Lucide Icons, responsive layout, Axios interceptors with automatic JWT auth management.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8. WORKING PROTOTYPE: FACULTY RISK RADAR &amp; COHORT HEATMAP</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Interface 1: Live Dashboard Visualizing Student Behavioral Distribution</a:t>
            </a:r>
          </a:p>
          <a:p>
            <a:pPr>
              <a:defRPr sz="1150">
                <a:solidFill>
                  <a:srgbClr val="94A3B8"/>
                </a:solidFill>
              </a:defRPr>
            </a:pPr>
            <a:r>
              <a:t>Live screenshot from the running Tripwire web application.</a:t>
            </a:r>
          </a:p>
        </p:txBody>
      </p:sp>
      <p:pic>
        <p:nvPicPr>
          <p:cNvPr id="5" name="Picture 4" descr="02_dashboard.png"/>
          <p:cNvPicPr>
            <a:picLocks noChangeAspect="1"/>
          </p:cNvPicPr>
          <p:nvPr/>
        </p:nvPicPr>
        <p:blipFill>
          <a:blip r:embed="rId2"/>
          <a:stretch>
            <a:fillRect/>
          </a:stretch>
        </p:blipFill>
        <p:spPr>
          <a:xfrm>
            <a:off x="731520" y="1463040"/>
            <a:ext cx="6858000" cy="4389120"/>
          </a:xfrm>
          <a:prstGeom prst="rect">
            <a:avLst/>
          </a:prstGeom>
        </p:spPr>
      </p:pic>
      <p:sp>
        <p:nvSpPr>
          <p:cNvPr id="6" name="Rounded Rectangle 5"/>
          <p:cNvSpPr/>
          <p:nvPr/>
        </p:nvSpPr>
        <p:spPr>
          <a:xfrm>
            <a:off x="7772400" y="1463040"/>
            <a:ext cx="3657600" cy="438912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645920"/>
            <a:ext cx="3200400" cy="4023360"/>
          </a:xfrm>
          <a:prstGeom prst="rect">
            <a:avLst/>
          </a:prstGeom>
          <a:noFill/>
        </p:spPr>
        <p:txBody>
          <a:bodyPr wrap="square">
            <a:spAutoFit/>
          </a:bodyPr>
          <a:lstStyle/>
          <a:p>
            <a:pPr>
              <a:defRPr sz="1300" b="1">
                <a:solidFill>
                  <a:srgbClr val="6366F1"/>
                </a:solidFill>
              </a:defRPr>
            </a:pPr>
            <a:r>
              <a:t>INTERFACE: Risk Radar Dashboard</a:t>
            </a:r>
          </a:p>
          <a:p>
            <a:br/>
            <a:pPr>
              <a:defRPr sz="1000">
                <a:solidFill>
                  <a:srgbClr val="F8FAFC"/>
                </a:solidFill>
              </a:defRPr>
            </a:pPr>
            <a:r>
              <a:t>✔ Cohort Heatmap: Visualizes 50 students categorized into 7 behavioral archetypes (Normal, Slow Decline, Rapid Decline, Monitoring, Recovery, etc.).</a:t>
            </a:r>
          </a:p>
          <a:p>
            <a:br/>
            <a:pPr>
              <a:defRPr sz="1000">
                <a:solidFill>
                  <a:srgbClr val="F8FAFC"/>
                </a:solidFill>
              </a:defRPr>
            </a:pPr>
            <a:r>
              <a:t>✔ Triaged Alert Queue: Surfaces active alerts prioritized by drift velocity rather than static grades.</a:t>
            </a:r>
          </a:p>
          <a:p>
            <a:br/>
            <a:pPr>
              <a:defRPr sz="1000">
                <a:solidFill>
                  <a:srgbClr val="F8FAFC"/>
                </a:solidFill>
              </a:defRPr>
            </a:pPr>
            <a:r>
              <a:t>✔ Real-Time Metrics: Displays cohort average attendance, submission delays, and high-risk flags at a glance.</a:t>
            </a:r>
          </a:p>
          <a:p>
            <a:br/>
            <a:pPr>
              <a:defRPr sz="1000">
                <a:solidFill>
                  <a:srgbClr val="F8FAFC"/>
                </a:solidFill>
              </a:defRPr>
            </a:pPr>
            <a:r>
              <a:t>✔ Zero Guesswork: Faculty immediately see which students need support right now, without sifting through spreadsheets.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8. WORKING PROTOTYPE: BATCH ATTENDANCE REGISTER</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Interface 2: One-Click Classroom Telemetry Recording with Reliable Persistence</a:t>
            </a:r>
          </a:p>
          <a:p>
            <a:pPr>
              <a:defRPr sz="1150">
                <a:solidFill>
                  <a:srgbClr val="94A3B8"/>
                </a:solidFill>
              </a:defRPr>
            </a:pPr>
            <a:r>
              <a:t>Live screenshot of the Batch Attendance Register modal with date, period, and status buttons.</a:t>
            </a:r>
          </a:p>
        </p:txBody>
      </p:sp>
      <p:pic>
        <p:nvPicPr>
          <p:cNvPr id="5" name="Picture 4" descr="04_batch_attendance.png"/>
          <p:cNvPicPr>
            <a:picLocks noChangeAspect="1"/>
          </p:cNvPicPr>
          <p:nvPr/>
        </p:nvPicPr>
        <p:blipFill>
          <a:blip r:embed="rId2"/>
          <a:stretch>
            <a:fillRect/>
          </a:stretch>
        </p:blipFill>
        <p:spPr>
          <a:xfrm>
            <a:off x="731520" y="1463040"/>
            <a:ext cx="6858000" cy="4389120"/>
          </a:xfrm>
          <a:prstGeom prst="rect">
            <a:avLst/>
          </a:prstGeom>
        </p:spPr>
      </p:pic>
      <p:sp>
        <p:nvSpPr>
          <p:cNvPr id="6" name="Rounded Rectangle 5"/>
          <p:cNvSpPr/>
          <p:nvPr/>
        </p:nvSpPr>
        <p:spPr>
          <a:xfrm>
            <a:off x="7772400" y="1463040"/>
            <a:ext cx="3657600" cy="438912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645920"/>
            <a:ext cx="3200400" cy="4023360"/>
          </a:xfrm>
          <a:prstGeom prst="rect">
            <a:avLst/>
          </a:prstGeom>
          <a:noFill/>
        </p:spPr>
        <p:txBody>
          <a:bodyPr wrap="square">
            <a:spAutoFit/>
          </a:bodyPr>
          <a:lstStyle/>
          <a:p>
            <a:pPr>
              <a:defRPr sz="1300" b="1">
                <a:solidFill>
                  <a:srgbClr val="0EA5E9"/>
                </a:solidFill>
              </a:defRPr>
            </a:pPr>
            <a:r>
              <a:t>INTERFACE: Batch Register Modal</a:t>
            </a:r>
          </a:p>
          <a:p>
            <a:br/>
            <a:pPr>
              <a:defRPr sz="1000">
                <a:solidFill>
                  <a:srgbClr val="F8FAFC"/>
                </a:solidFill>
              </a:defRPr>
            </a:pPr>
            <a:r>
              <a:t>✔ Classroom Cohort View: Mark daily attendance across Present (P), Absent (A), Late (L), and Excused (E) in seconds.</a:t>
            </a:r>
          </a:p>
          <a:p>
            <a:br/>
            <a:pPr>
              <a:defRPr sz="1000">
                <a:solidFill>
                  <a:srgbClr val="F8FAFC"/>
                </a:solidFill>
              </a:defRPr>
            </a:pPr>
            <a:r>
              <a:t>✔ Period &amp; Date Navigation: Select Periods 1–6 with morning period tracking for anomaly detection.</a:t>
            </a:r>
          </a:p>
          <a:p>
            <a:br/>
            <a:pPr>
              <a:defRPr sz="1000">
                <a:solidFill>
                  <a:srgbClr val="F8FAFC"/>
                </a:solidFill>
              </a:defRPr>
            </a:pPr>
            <a:r>
              <a:t>✔ Database State Persistence: Reopening the modal or changing dates automatically loads saved attendance records—eliminating fresh resets.</a:t>
            </a:r>
          </a:p>
          <a:p>
            <a:br/>
            <a:pPr>
              <a:defRPr sz="1000">
                <a:solidFill>
                  <a:srgbClr val="F8FAFC"/>
                </a:solidFill>
              </a:defRPr>
            </a:pPr>
            <a:r>
              <a:t>✔ Immediate Velocity Recalculation: Submitting attendance instantly re-evaluates DVI scores across all students in under 200ms.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8. WORKING PROTOTYPE: STUDENT PROFILE &amp; COUNTERFACTUAL XAI</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Interface 3: Deep Behavioral Analytics &amp; 'What-If' Guidance for Rahul (CSE24001)</a:t>
            </a:r>
          </a:p>
          <a:p>
            <a:pPr>
              <a:defRPr sz="1150">
                <a:solidFill>
                  <a:srgbClr val="94A3B8"/>
                </a:solidFill>
              </a:defRPr>
            </a:pPr>
            <a:r>
              <a:t>Live screenshot of Rahul's profile with DVI radial gauge, component waterfall, and recovery targets.</a:t>
            </a:r>
          </a:p>
        </p:txBody>
      </p:sp>
      <p:pic>
        <p:nvPicPr>
          <p:cNvPr id="5" name="Picture 4" descr="05_student_profile_rahul.png"/>
          <p:cNvPicPr>
            <a:picLocks noChangeAspect="1"/>
          </p:cNvPicPr>
          <p:nvPr/>
        </p:nvPicPr>
        <p:blipFill>
          <a:blip r:embed="rId2"/>
          <a:stretch>
            <a:fillRect/>
          </a:stretch>
        </p:blipFill>
        <p:spPr>
          <a:xfrm>
            <a:off x="731520" y="1463040"/>
            <a:ext cx="6858000" cy="4389120"/>
          </a:xfrm>
          <a:prstGeom prst="rect">
            <a:avLst/>
          </a:prstGeom>
        </p:spPr>
      </p:pic>
      <p:sp>
        <p:nvSpPr>
          <p:cNvPr id="6" name="Rounded Rectangle 5"/>
          <p:cNvSpPr/>
          <p:nvPr/>
        </p:nvSpPr>
        <p:spPr>
          <a:xfrm>
            <a:off x="7772400" y="1463040"/>
            <a:ext cx="3657600" cy="438912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645920"/>
            <a:ext cx="3200400" cy="4023360"/>
          </a:xfrm>
          <a:prstGeom prst="rect">
            <a:avLst/>
          </a:prstGeom>
          <a:noFill/>
        </p:spPr>
        <p:txBody>
          <a:bodyPr wrap="square">
            <a:spAutoFit/>
          </a:bodyPr>
          <a:lstStyle/>
          <a:p>
            <a:pPr>
              <a:defRPr sz="1300" b="1">
                <a:solidFill>
                  <a:srgbClr val="EF4444"/>
                </a:solidFill>
              </a:defRPr>
            </a:pPr>
            <a:r>
              <a:t>INTERFACE: Explainable Profile</a:t>
            </a:r>
          </a:p>
          <a:p>
            <a:br/>
            <a:pPr>
              <a:defRPr sz="950">
                <a:solidFill>
                  <a:srgbClr val="F8FAFC"/>
                </a:solidFill>
              </a:defRPr>
            </a:pPr>
            <a:r>
              <a:t>✔ DVI Radial Gauge: Displays real-time drift score (74 High Risk) with velocity indicator.</a:t>
            </a:r>
          </a:p>
          <a:p>
            <a:br/>
            <a:pPr>
              <a:defRPr sz="950">
                <a:solidFill>
                  <a:srgbClr val="F8FAFC"/>
                </a:solidFill>
              </a:defRPr>
            </a:pPr>
            <a:r>
              <a:t>✔ 4-Vector Attribution: Explicit breakdown across Series Exam Drift (30%), Attendance Drift (30%), Submission Latency (30%), and LMS Activity (10%).</a:t>
            </a:r>
          </a:p>
          <a:p>
            <a:br/>
            <a:pPr>
              <a:defRPr sz="950">
                <a:solidFill>
                  <a:srgbClr val="F8FAFC"/>
                </a:solidFill>
              </a:defRPr>
            </a:pPr>
            <a:r>
              <a:t>✔ Statutory Exam Eligibility Status: Evaluates 75% attendance threshold and 40% CIE pass mark projection.</a:t>
            </a:r>
          </a:p>
          <a:p>
            <a:br/>
            <a:pPr>
              <a:defRPr sz="950">
                <a:solidFill>
                  <a:srgbClr val="F8FAFC"/>
                </a:solidFill>
              </a:defRPr>
            </a:pPr>
            <a:r>
              <a:t>✔ Actionable Counterfactual: Generates specific guidance: 'Submitting Assignment 3 and attending upcoming labs drops DVI by 28 points to 46 (Safe zone).'</a:t>
            </a:r>
          </a:p>
          <a:p>
            <a:br/>
            <a:pPr>
              <a:defRPr sz="950">
                <a:solidFill>
                  <a:srgbClr val="F8FAFC"/>
                </a:solidFill>
              </a:defRPr>
            </a:pPr>
            <a:r>
              <a:t>✔ Human-Centric Mentoring: Transforms data from punitive labels into positive, constructive student check-in conversations.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8. WORKING PROTOTYPE: CLOSED-LOOP INTERVENTION TRACKING</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Interface 4: Logging Advisor Consultations, Outcomes &amp; Hysteresis Recovery</a:t>
            </a:r>
          </a:p>
          <a:p>
            <a:pPr>
              <a:defRPr sz="1150">
                <a:solidFill>
                  <a:srgbClr val="94A3B8"/>
                </a:solidFill>
              </a:defRPr>
            </a:pPr>
            <a:r>
              <a:t>Live screenshot of the Faculty Interventions Log &amp; Recovery Monitoring pipeline.</a:t>
            </a:r>
          </a:p>
        </p:txBody>
      </p:sp>
      <p:pic>
        <p:nvPicPr>
          <p:cNvPr id="5" name="Picture 4" descr="06_interventions.png"/>
          <p:cNvPicPr>
            <a:picLocks noChangeAspect="1"/>
          </p:cNvPicPr>
          <p:nvPr/>
        </p:nvPicPr>
        <p:blipFill>
          <a:blip r:embed="rId2"/>
          <a:stretch>
            <a:fillRect/>
          </a:stretch>
        </p:blipFill>
        <p:spPr>
          <a:xfrm>
            <a:off x="731520" y="1463040"/>
            <a:ext cx="6858000" cy="4389120"/>
          </a:xfrm>
          <a:prstGeom prst="rect">
            <a:avLst/>
          </a:prstGeom>
        </p:spPr>
      </p:pic>
      <p:sp>
        <p:nvSpPr>
          <p:cNvPr id="6" name="Rounded Rectangle 5"/>
          <p:cNvSpPr/>
          <p:nvPr/>
        </p:nvSpPr>
        <p:spPr>
          <a:xfrm>
            <a:off x="7772400" y="1463040"/>
            <a:ext cx="3657600" cy="438912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645920"/>
            <a:ext cx="3200400" cy="4023360"/>
          </a:xfrm>
          <a:prstGeom prst="rect">
            <a:avLst/>
          </a:prstGeom>
          <a:noFill/>
        </p:spPr>
        <p:txBody>
          <a:bodyPr wrap="square">
            <a:spAutoFit/>
          </a:bodyPr>
          <a:lstStyle/>
          <a:p>
            <a:pPr>
              <a:defRPr sz="1300" b="1">
                <a:solidFill>
                  <a:srgbClr val="10B981"/>
                </a:solidFill>
              </a:defRPr>
            </a:pPr>
            <a:r>
              <a:t>INTERFACE: Intervention Log</a:t>
            </a:r>
          </a:p>
          <a:p>
            <a:br/>
            <a:pPr>
              <a:defRPr sz="1000">
                <a:solidFill>
                  <a:srgbClr val="F8FAFC"/>
                </a:solidFill>
              </a:defRPr>
            </a:pPr>
            <a:r>
              <a:t>✔ Structured Consultation Logging: Records in-person meetings, phone check-ins, or academic referrals in 30 seconds.</a:t>
            </a:r>
          </a:p>
          <a:p>
            <a:br/>
            <a:pPr>
              <a:defRPr sz="1000">
                <a:solidFill>
                  <a:srgbClr val="F8FAFC"/>
                </a:solidFill>
              </a:defRPr>
            </a:pPr>
            <a:r>
              <a:t>✔ Root Cause Identification: Flags whether the distress was academic difficulty, personal difficulty, or health-related.</a:t>
            </a:r>
          </a:p>
          <a:p>
            <a:br/>
            <a:pPr>
              <a:defRPr sz="1000">
                <a:solidFill>
                  <a:srgbClr val="F8FAFC"/>
                </a:solidFill>
              </a:defRPr>
            </a:pPr>
            <a:r>
              <a:t>✔ Hysteresis Recovery Monitoring: Alert clears only when student's DVI drops below 55 for 2 consecutive weeks.</a:t>
            </a:r>
          </a:p>
          <a:p>
            <a:br/>
            <a:pPr>
              <a:defRPr sz="1000">
                <a:solidFill>
                  <a:srgbClr val="F8FAFC"/>
                </a:solidFill>
              </a:defRPr>
            </a:pPr>
            <a:r>
              <a:t>✔ Institutional Accountability: Provides deans with verified audit trails of proactive faculty mentorship.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SYSTEM TRUST &amp; SELF-MONITORING</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Closed-Loop Accuracy Tracking &amp; Solving the Expectation-Disconfirmation Dip</a:t>
            </a:r>
          </a:p>
          <a:p>
            <a:pPr>
              <a:defRPr sz="1150">
                <a:solidFill>
                  <a:srgbClr val="94A3B8"/>
                </a:solidFill>
              </a:defRPr>
            </a:pPr>
            <a:r>
              <a:t>The first early-warning system that tracks and displays its own perceived accuracy over time.</a:t>
            </a:r>
          </a:p>
        </p:txBody>
      </p:sp>
      <p:sp>
        <p:nvSpPr>
          <p:cNvPr id="5" name="Rounded Rectangle 4"/>
          <p:cNvSpPr/>
          <p:nvPr/>
        </p:nvSpPr>
        <p:spPr>
          <a:xfrm>
            <a:off x="731520" y="1463040"/>
            <a:ext cx="5257800" cy="219456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800600" cy="1920240"/>
          </a:xfrm>
          <a:prstGeom prst="rect">
            <a:avLst/>
          </a:prstGeom>
          <a:noFill/>
        </p:spPr>
        <p:txBody>
          <a:bodyPr wrap="square">
            <a:spAutoFit/>
          </a:bodyPr>
          <a:lstStyle/>
          <a:p>
            <a:pPr>
              <a:defRPr sz="1300" b="1">
                <a:solidFill>
                  <a:srgbClr val="EF4444"/>
                </a:solidFill>
              </a:defRPr>
            </a:pPr>
            <a:r>
              <a:t>The Expectation-Disconfirmation Effect</a:t>
            </a:r>
          </a:p>
          <a:p>
            <a:br/>
            <a:pPr>
              <a:defRPr sz="1000">
                <a:solidFill>
                  <a:srgbClr val="94A3B8"/>
                </a:solidFill>
              </a:defRPr>
            </a:pPr>
            <a:r>
              <a:t>Documented in UTAUT &amp; education literature (Bhattacherjee &amp; Premkumar): Faculty adopt EWS with high hopes, but 1 or 2 early false alarms trigger a sharp trust collapse, leading to permanent abandonment. Tripwire explicitly tackles this psychological barrier.</a:t>
            </a:r>
          </a:p>
        </p:txBody>
      </p:sp>
      <p:sp>
        <p:nvSpPr>
          <p:cNvPr id="7" name="Rounded Rectangle 6"/>
          <p:cNvSpPr/>
          <p:nvPr/>
        </p:nvSpPr>
        <p:spPr>
          <a:xfrm>
            <a:off x="6172200" y="1463040"/>
            <a:ext cx="5257800" cy="219456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00600" cy="1920240"/>
          </a:xfrm>
          <a:prstGeom prst="rect">
            <a:avLst/>
          </a:prstGeom>
          <a:noFill/>
        </p:spPr>
        <p:txBody>
          <a:bodyPr wrap="square">
            <a:spAutoFit/>
          </a:bodyPr>
          <a:lstStyle/>
          <a:p>
            <a:pPr>
              <a:defRPr sz="1300" b="1">
                <a:solidFill>
                  <a:srgbClr val="0EA5E9"/>
                </a:solidFill>
              </a:defRPr>
            </a:pPr>
            <a:r>
              <a:t>1-Tap Closed-Loop Mentor Verification</a:t>
            </a:r>
          </a:p>
          <a:p>
            <a:br/>
            <a:pPr>
              <a:defRPr sz="1000">
                <a:solidFill>
                  <a:srgbClr val="94A3B8"/>
                </a:solidFill>
              </a:defRPr>
            </a:pPr>
            <a:r>
              <a:t>Following every intervention, faculty complete a 1-tap audit: Flag Accuracy (Accurate / False Alarm / Too Late / Unclear), 1–5 Actionability Rating, and optional ground-truth notes. Turns subjective faculty feedback into quantitative model telemetry.</a:t>
            </a:r>
          </a:p>
        </p:txBody>
      </p:sp>
      <p:sp>
        <p:nvSpPr>
          <p:cNvPr id="9" name="Rounded Rectangle 8"/>
          <p:cNvSpPr/>
          <p:nvPr/>
        </p:nvSpPr>
        <p:spPr>
          <a:xfrm>
            <a:off x="731520" y="3840480"/>
            <a:ext cx="5257800" cy="219456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977640"/>
            <a:ext cx="4800600" cy="1920240"/>
          </a:xfrm>
          <a:prstGeom prst="rect">
            <a:avLst/>
          </a:prstGeom>
          <a:noFill/>
        </p:spPr>
        <p:txBody>
          <a:bodyPr wrap="square">
            <a:spAutoFit/>
          </a:bodyPr>
          <a:lstStyle/>
          <a:p>
            <a:pPr>
              <a:defRPr sz="1300" b="1">
                <a:solidFill>
                  <a:srgbClr val="10B981"/>
                </a:solidFill>
              </a:defRPr>
            </a:pPr>
            <a:r>
              <a:t>Composite System Trust Score (0–100)</a:t>
            </a:r>
          </a:p>
          <a:p>
            <a:br/>
            <a:pPr>
              <a:defRPr sz="1000">
                <a:solidFill>
                  <a:srgbClr val="94A3B8"/>
                </a:solidFill>
              </a:defRPr>
            </a:pPr>
            <a:r>
              <a:t>Calculated dynamically: Trust Score = (Accurate Flags % × 0.5) + (Mean Likert Score / 5.0 × 100 × 0.5). Tracks semester trajectory across Weeks 1 to 6 (initial 70% optimism → W2-3 trough at 41.7% → W4-6 calibrated recovery to 97.5%).</a:t>
            </a:r>
          </a:p>
        </p:txBody>
      </p:sp>
      <p:sp>
        <p:nvSpPr>
          <p:cNvPr id="11" name="Rounded Rectangle 10"/>
          <p:cNvSpPr/>
          <p:nvPr/>
        </p:nvSpPr>
        <p:spPr>
          <a:xfrm>
            <a:off x="6172200" y="3840480"/>
            <a:ext cx="5257800" cy="219456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977640"/>
            <a:ext cx="4800600" cy="1920240"/>
          </a:xfrm>
          <a:prstGeom prst="rect">
            <a:avLst/>
          </a:prstGeom>
          <a:noFill/>
        </p:spPr>
        <p:txBody>
          <a:bodyPr wrap="square">
            <a:spAutoFit/>
          </a:bodyPr>
          <a:lstStyle/>
          <a:p>
            <a:pPr>
              <a:defRPr sz="1300" b="1">
                <a:solidFill>
                  <a:srgbClr val="6366F1"/>
                </a:solidFill>
              </a:defRPr>
            </a:pPr>
            <a:r>
              <a:t>Confidence &amp; Severity Calibration</a:t>
            </a:r>
          </a:p>
          <a:p>
            <a:br/>
            <a:pPr>
              <a:defRPr sz="1000">
                <a:solidFill>
                  <a:srgbClr val="94A3B8"/>
                </a:solidFill>
              </a:defRPr>
            </a:pPr>
            <a:r>
              <a:t>Empirical precision proof: DVI 80–100 alerts achieve 92–100% precision with zero false alarms on normal/excused archetypes, while borderline DVI 70–79 alerts capture emergent drift requiring faculty discretion.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9. IMPACT &amp; USEFULNESS</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Measurable Retention ROI, Academic Equity &amp; Privacy Safeguards</a:t>
            </a:r>
          </a:p>
          <a:p>
            <a:pPr>
              <a:defRPr sz="1150">
                <a:solidFill>
                  <a:srgbClr val="94A3B8"/>
                </a:solidFill>
              </a:defRPr>
            </a:pPr>
            <a:r>
              <a:t>Quantified institutional impact engineered with ethical AI principles.</a:t>
            </a:r>
          </a:p>
        </p:txBody>
      </p:sp>
      <p:sp>
        <p:nvSpPr>
          <p:cNvPr id="5" name="Rounded Rectangle 4"/>
          <p:cNvSpPr/>
          <p:nvPr/>
        </p:nvSpPr>
        <p:spPr>
          <a:xfrm>
            <a:off x="731520" y="1463040"/>
            <a:ext cx="3429000" cy="219456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3063240" cy="1920240"/>
          </a:xfrm>
          <a:prstGeom prst="rect">
            <a:avLst/>
          </a:prstGeom>
          <a:noFill/>
        </p:spPr>
        <p:txBody>
          <a:bodyPr wrap="square">
            <a:spAutoFit/>
          </a:bodyPr>
          <a:lstStyle/>
          <a:p>
            <a:pPr>
              <a:defRPr sz="2200" b="1">
                <a:solidFill>
                  <a:srgbClr val="6366F1"/>
                </a:solidFill>
              </a:defRPr>
            </a:pPr>
            <a:r>
              <a:t>21–28 Days Earlier</a:t>
            </a:r>
          </a:p>
          <a:p>
            <a:pPr>
              <a:defRPr sz="1100" b="1">
                <a:solidFill>
                  <a:srgbClr val="F8FAFC"/>
                </a:solidFill>
              </a:defRPr>
            </a:pPr>
            <a:r>
              <a:t>LEAD TIME ADVANTAGE</a:t>
            </a:r>
          </a:p>
          <a:p>
            <a:br/>
            <a:pPr>
              <a:defRPr sz="950">
                <a:solidFill>
                  <a:srgbClr val="94A3B8"/>
                </a:solidFill>
              </a:defRPr>
            </a:pPr>
            <a:r>
              <a:t>Detects micro-drift in 14-day rolling windows rather than waiting 90 days for midterms or end-of-term hall ticket blocks.</a:t>
            </a:r>
          </a:p>
        </p:txBody>
      </p:sp>
      <p:sp>
        <p:nvSpPr>
          <p:cNvPr id="7" name="Rounded Rectangle 6"/>
          <p:cNvSpPr/>
          <p:nvPr/>
        </p:nvSpPr>
        <p:spPr>
          <a:xfrm>
            <a:off x="4343400" y="1463040"/>
            <a:ext cx="3429000" cy="219456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00200"/>
            <a:ext cx="3063240" cy="1920240"/>
          </a:xfrm>
          <a:prstGeom prst="rect">
            <a:avLst/>
          </a:prstGeom>
          <a:noFill/>
        </p:spPr>
        <p:txBody>
          <a:bodyPr wrap="square">
            <a:spAutoFit/>
          </a:bodyPr>
          <a:lstStyle/>
          <a:p>
            <a:pPr>
              <a:defRPr sz="2200" b="1">
                <a:solidFill>
                  <a:srgbClr val="0EA5E9"/>
                </a:solidFill>
              </a:defRPr>
            </a:pPr>
            <a:r>
              <a:t>85% Reduction</a:t>
            </a:r>
          </a:p>
          <a:p>
            <a:pPr>
              <a:defRPr sz="1100" b="1">
                <a:solidFill>
                  <a:srgbClr val="F8FAFC"/>
                </a:solidFill>
              </a:defRPr>
            </a:pPr>
            <a:r>
              <a:t>FACULTY TRIAGE OVERHEAD</a:t>
            </a:r>
          </a:p>
          <a:p>
            <a:br/>
            <a:pPr>
              <a:defRPr sz="950">
                <a:solidFill>
                  <a:srgbClr val="94A3B8"/>
                </a:solidFill>
              </a:defRPr>
            </a:pPr>
            <a:r>
              <a:t>Automated velocity scoring highlights the top 5 at-risk students out of 100 in less than 10 seconds.</a:t>
            </a:r>
          </a:p>
        </p:txBody>
      </p:sp>
      <p:sp>
        <p:nvSpPr>
          <p:cNvPr id="9" name="Rounded Rectangle 8"/>
          <p:cNvSpPr/>
          <p:nvPr/>
        </p:nvSpPr>
        <p:spPr>
          <a:xfrm>
            <a:off x="7955280" y="1463040"/>
            <a:ext cx="3429000" cy="219456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600200"/>
            <a:ext cx="3063240" cy="1920240"/>
          </a:xfrm>
          <a:prstGeom prst="rect">
            <a:avLst/>
          </a:prstGeom>
          <a:noFill/>
        </p:spPr>
        <p:txBody>
          <a:bodyPr wrap="square">
            <a:spAutoFit/>
          </a:bodyPr>
          <a:lstStyle/>
          <a:p>
            <a:pPr>
              <a:defRPr sz="2200" b="1">
                <a:solidFill>
                  <a:srgbClr val="10B981"/>
                </a:solidFill>
              </a:defRPr>
            </a:pPr>
            <a:r>
              <a:t>15–20% Reduction</a:t>
            </a:r>
          </a:p>
          <a:p>
            <a:pPr>
              <a:defRPr sz="1100" b="1">
                <a:solidFill>
                  <a:srgbClr val="F8FAFC"/>
                </a:solidFill>
              </a:defRPr>
            </a:pPr>
            <a:r>
              <a:t>AVOIDABLE DEBARMENTS</a:t>
            </a:r>
          </a:p>
          <a:p>
            <a:br/>
            <a:pPr>
              <a:defRPr sz="950">
                <a:solidFill>
                  <a:srgbClr val="94A3B8"/>
                </a:solidFill>
              </a:defRPr>
            </a:pPr>
            <a:r>
              <a:t>Early velocity check-ins prevent students from sliding past the non-recoverable 75% university attendance threshold.</a:t>
            </a:r>
          </a:p>
        </p:txBody>
      </p:sp>
      <p:sp>
        <p:nvSpPr>
          <p:cNvPr id="11" name="Rounded Rectangle 10"/>
          <p:cNvSpPr/>
          <p:nvPr/>
        </p:nvSpPr>
        <p:spPr>
          <a:xfrm>
            <a:off x="731520" y="3840480"/>
            <a:ext cx="34290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77640"/>
            <a:ext cx="3063240" cy="1920240"/>
          </a:xfrm>
          <a:prstGeom prst="rect">
            <a:avLst/>
          </a:prstGeom>
          <a:noFill/>
        </p:spPr>
        <p:txBody>
          <a:bodyPr wrap="square">
            <a:spAutoFit/>
          </a:bodyPr>
          <a:lstStyle/>
          <a:p>
            <a:pPr>
              <a:defRPr sz="2200" b="1">
                <a:solidFill>
                  <a:srgbClr val="F59E0B"/>
                </a:solidFill>
              </a:defRPr>
            </a:pPr>
            <a:r>
              <a:t>Zero Student Stigma</a:t>
            </a:r>
          </a:p>
          <a:p>
            <a:pPr>
              <a:defRPr sz="1100" b="1">
                <a:solidFill>
                  <a:srgbClr val="F8FAFC"/>
                </a:solidFill>
              </a:defRPr>
            </a:pPr>
            <a:r>
              <a:t>DIGNITY-PRESERVING SAFETY NET</a:t>
            </a:r>
          </a:p>
          <a:p>
            <a:br/>
            <a:pPr>
              <a:defRPr sz="950">
                <a:solidFill>
                  <a:srgbClr val="94A3B8"/>
                </a:solidFill>
              </a:defRPr>
            </a:pPr>
            <a:r>
              <a:t>Alerts are strictly private to designated mentors. Students are never shown a demoralizing public 'High Risk' badge.</a:t>
            </a:r>
          </a:p>
        </p:txBody>
      </p:sp>
      <p:sp>
        <p:nvSpPr>
          <p:cNvPr id="13" name="Rounded Rectangle 12"/>
          <p:cNvSpPr/>
          <p:nvPr/>
        </p:nvSpPr>
        <p:spPr>
          <a:xfrm>
            <a:off x="4343400" y="3840480"/>
            <a:ext cx="3429000" cy="219456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977640"/>
            <a:ext cx="3063240" cy="1920240"/>
          </a:xfrm>
          <a:prstGeom prst="rect">
            <a:avLst/>
          </a:prstGeom>
          <a:noFill/>
        </p:spPr>
        <p:txBody>
          <a:bodyPr wrap="square">
            <a:spAutoFit/>
          </a:bodyPr>
          <a:lstStyle/>
          <a:p>
            <a:pPr>
              <a:defRPr sz="2200" b="1">
                <a:solidFill>
                  <a:srgbClr val="EF4444"/>
                </a:solidFill>
              </a:defRPr>
            </a:pPr>
            <a:r>
              <a:t>Excused Leave Protection</a:t>
            </a:r>
          </a:p>
          <a:p>
            <a:pPr>
              <a:defRPr sz="1100" b="1">
                <a:solidFill>
                  <a:srgbClr val="F8FAFC"/>
                </a:solidFill>
              </a:defRPr>
            </a:pPr>
            <a:r>
              <a:t>FAIRNESS &amp; EQUITY</a:t>
            </a:r>
          </a:p>
          <a:p>
            <a:br/>
            <a:pPr>
              <a:defRPr sz="950">
                <a:solidFill>
                  <a:srgbClr val="94A3B8"/>
                </a:solidFill>
              </a:defRPr>
            </a:pPr>
            <a:r>
              <a:t>Approved medical and duty leaves in the ERP are mathematically masked from penalties, protecting student ambassadors.</a:t>
            </a:r>
          </a:p>
        </p:txBody>
      </p:sp>
      <p:sp>
        <p:nvSpPr>
          <p:cNvPr id="15" name="Rounded Rectangle 14"/>
          <p:cNvSpPr/>
          <p:nvPr/>
        </p:nvSpPr>
        <p:spPr>
          <a:xfrm>
            <a:off x="7955280" y="3840480"/>
            <a:ext cx="3429000" cy="2194560"/>
          </a:xfrm>
          <a:prstGeom prst="roundRect">
            <a:avLst/>
          </a:prstGeom>
          <a:solidFill>
            <a:srgbClr val="131A2B"/>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3977640"/>
            <a:ext cx="3063240" cy="1920240"/>
          </a:xfrm>
          <a:prstGeom prst="rect">
            <a:avLst/>
          </a:prstGeom>
          <a:noFill/>
        </p:spPr>
        <p:txBody>
          <a:bodyPr wrap="square">
            <a:spAutoFit/>
          </a:bodyPr>
          <a:lstStyle/>
          <a:p>
            <a:pPr>
              <a:defRPr sz="2200" b="1">
                <a:solidFill>
                  <a:srgbClr val="F8FAFC"/>
                </a:solidFill>
              </a:defRPr>
            </a:pPr>
            <a:r>
              <a:t>Privacy by Design</a:t>
            </a:r>
          </a:p>
          <a:p>
            <a:pPr>
              <a:defRPr sz="1100" b="1">
                <a:solidFill>
                  <a:srgbClr val="F8FAFC"/>
                </a:solidFill>
              </a:defRPr>
            </a:pPr>
            <a:r>
              <a:t>OPERATIONAL TELEMETRY ONLY</a:t>
            </a:r>
          </a:p>
          <a:p>
            <a:br/>
            <a:pPr>
              <a:defRPr sz="950">
                <a:solidFill>
                  <a:srgbClr val="94A3B8"/>
                </a:solidFill>
              </a:defRPr>
            </a:pPr>
            <a:r>
              <a:t>Uses coarse institutional metadata already in the ERP (attendance, timestamps, clicks). Zero invasive webcams or screen tracking.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10. FUTURE SCOPE &amp; ROADMAP</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From Campus Prototype to Standard College ERP Plug-In</a:t>
            </a:r>
          </a:p>
          <a:p>
            <a:pPr>
              <a:defRPr sz="1150">
                <a:solidFill>
                  <a:srgbClr val="94A3B8"/>
                </a:solidFill>
              </a:defRPr>
            </a:pPr>
            <a:r>
              <a:t>A clear 3-phase commercialization and technical expansion roadmap.</a:t>
            </a:r>
          </a:p>
        </p:txBody>
      </p:sp>
      <p:sp>
        <p:nvSpPr>
          <p:cNvPr id="5" name="Rounded Rectangle 4"/>
          <p:cNvSpPr/>
          <p:nvPr/>
        </p:nvSpPr>
        <p:spPr>
          <a:xfrm>
            <a:off x="731520" y="1463040"/>
            <a:ext cx="3429000" cy="466344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63240" cy="4297680"/>
          </a:xfrm>
          <a:prstGeom prst="rect">
            <a:avLst/>
          </a:prstGeom>
          <a:noFill/>
        </p:spPr>
        <p:txBody>
          <a:bodyPr wrap="square">
            <a:spAutoFit/>
          </a:bodyPr>
          <a:lstStyle/>
          <a:p>
            <a:pPr>
              <a:defRPr sz="1300" b="1">
                <a:solidFill>
                  <a:srgbClr val="6366F1"/>
                </a:solidFill>
              </a:defRPr>
            </a:pPr>
            <a:r>
              <a:t>Phase 1: Delivered Prototype</a:t>
            </a:r>
          </a:p>
          <a:p>
            <a:pPr>
              <a:defRPr sz="1000" i="1">
                <a:solidFill>
                  <a:srgbClr val="94A3B8"/>
                </a:solidFill>
              </a:defRPr>
            </a:pPr>
            <a:r>
              <a:t>Current Hackathon Release</a:t>
            </a:r>
          </a:p>
          <a:p>
            <a:br/>
            <a:pPr>
              <a:defRPr sz="950">
                <a:solidFill>
                  <a:srgbClr val="F8FAFC"/>
                </a:solidFill>
              </a:defRPr>
            </a:pPr>
            <a:r>
              <a:t>• Full DVI multi-vector analytical engine (4 components)</a:t>
            </a:r>
          </a:p>
          <a:p>
            <a:br/>
            <a:pPr>
              <a:defRPr sz="950">
                <a:solidFill>
                  <a:srgbClr val="F8FAFC"/>
                </a:solidFill>
              </a:defRPr>
            </a:pPr>
            <a:r>
              <a:t>• EWMA temporal noise smoothing (alpha=0.30)</a:t>
            </a:r>
          </a:p>
          <a:p>
            <a:br/>
            <a:pPr>
              <a:defRPr sz="950">
                <a:solidFill>
                  <a:srgbClr val="F8FAFC"/>
                </a:solidFill>
              </a:defRPr>
            </a:pPr>
            <a:r>
              <a:t>• Classroom batch attendance register with state persistence</a:t>
            </a:r>
          </a:p>
          <a:p>
            <a:br/>
            <a:pPr>
              <a:defRPr sz="950">
                <a:solidFill>
                  <a:srgbClr val="F8FAFC"/>
                </a:solidFill>
              </a:defRPr>
            </a:pPr>
            <a:r>
              <a:t>• Actionable counterfactual explainability module</a:t>
            </a:r>
          </a:p>
          <a:p>
            <a:br/>
            <a:pPr>
              <a:defRPr sz="950">
                <a:solidFill>
                  <a:srgbClr val="F8FAFC"/>
                </a:solidFill>
              </a:defRPr>
            </a:pPr>
            <a:r>
              <a:t>• Closed-loop mentor intervention &amp; recovery tracker</a:t>
            </a:r>
          </a:p>
          <a:p>
            <a:br/>
            <a:pPr>
              <a:defRPr sz="950">
                <a:solidFill>
                  <a:srgbClr val="F8FAFC"/>
                </a:solidFill>
              </a:defRPr>
            </a:pPr>
            <a:r>
              <a:t>• Self-monitoring system trust &amp; accuracy metrics</a:t>
            </a:r>
          </a:p>
        </p:txBody>
      </p:sp>
      <p:sp>
        <p:nvSpPr>
          <p:cNvPr id="7" name="Rounded Rectangle 6"/>
          <p:cNvSpPr/>
          <p:nvPr/>
        </p:nvSpPr>
        <p:spPr>
          <a:xfrm>
            <a:off x="4343400" y="1463040"/>
            <a:ext cx="3429000" cy="466344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45920"/>
            <a:ext cx="3063240" cy="4297680"/>
          </a:xfrm>
          <a:prstGeom prst="rect">
            <a:avLst/>
          </a:prstGeom>
          <a:noFill/>
        </p:spPr>
        <p:txBody>
          <a:bodyPr wrap="square">
            <a:spAutoFit/>
          </a:bodyPr>
          <a:lstStyle/>
          <a:p>
            <a:pPr>
              <a:defRPr sz="1300" b="1">
                <a:solidFill>
                  <a:srgbClr val="0EA5E9"/>
                </a:solidFill>
              </a:defRPr>
            </a:pPr>
            <a:r>
              <a:t>Phase 2: Native ERP Connectors</a:t>
            </a:r>
          </a:p>
          <a:p>
            <a:pPr>
              <a:defRPr sz="1000" i="1">
                <a:solidFill>
                  <a:srgbClr val="94A3B8"/>
                </a:solidFill>
              </a:defRPr>
            </a:pPr>
            <a:r>
              <a:t>Next 3 Months</a:t>
            </a:r>
          </a:p>
          <a:p>
            <a:br/>
            <a:pPr>
              <a:defRPr sz="950">
                <a:solidFill>
                  <a:srgbClr val="F8FAFC"/>
                </a:solidFill>
              </a:defRPr>
            </a:pPr>
            <a:r>
              <a:t>• Native plug-in connectors for ETLAB, Linways &amp; CampusCare</a:t>
            </a:r>
          </a:p>
          <a:p>
            <a:br/>
            <a:pPr>
              <a:defRPr sz="950">
                <a:solidFill>
                  <a:srgbClr val="F8FAFC"/>
                </a:solidFill>
              </a:defRPr>
            </a:pPr>
            <a:r>
              <a:t>• LTI 1.3 standard compliance for Canvas &amp; Moodle LMS</a:t>
            </a:r>
          </a:p>
          <a:p>
            <a:br/>
            <a:pPr>
              <a:defRPr sz="950">
                <a:solidFill>
                  <a:srgbClr val="F8FAFC"/>
                </a:solidFill>
              </a:defRPr>
            </a:pPr>
            <a:r>
              <a:t>• Generative AI Mentor Outreach Copilot (Google Gemini API) to auto-draft personalized check-in emails in 1 click</a:t>
            </a:r>
          </a:p>
          <a:p>
            <a:br/>
            <a:pPr>
              <a:defRPr sz="950">
                <a:solidFill>
                  <a:srgbClr val="F8FAFC"/>
                </a:solidFill>
              </a:defRPr>
            </a:pPr>
            <a:r>
              <a:t>• Automated WhatsApp &amp; SMS alert dispatches</a:t>
            </a:r>
          </a:p>
        </p:txBody>
      </p:sp>
      <p:sp>
        <p:nvSpPr>
          <p:cNvPr id="9" name="Rounded Rectangle 8"/>
          <p:cNvSpPr/>
          <p:nvPr/>
        </p:nvSpPr>
        <p:spPr>
          <a:xfrm>
            <a:off x="7955280" y="1463040"/>
            <a:ext cx="3429000" cy="466344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645920"/>
            <a:ext cx="3063240" cy="4297680"/>
          </a:xfrm>
          <a:prstGeom prst="rect">
            <a:avLst/>
          </a:prstGeom>
          <a:noFill/>
        </p:spPr>
        <p:txBody>
          <a:bodyPr wrap="square">
            <a:spAutoFit/>
          </a:bodyPr>
          <a:lstStyle/>
          <a:p>
            <a:pPr>
              <a:defRPr sz="1300" b="1">
                <a:solidFill>
                  <a:srgbClr val="10B981"/>
                </a:solidFill>
              </a:defRPr>
            </a:pPr>
            <a:r>
              <a:t>Phase 3: Enterprise &amp; State Scale</a:t>
            </a:r>
          </a:p>
          <a:p>
            <a:pPr>
              <a:defRPr sz="1000" i="1">
                <a:solidFill>
                  <a:srgbClr val="94A3B8"/>
                </a:solidFill>
              </a:defRPr>
            </a:pPr>
            <a:r>
              <a:t>Next 6–12 Months</a:t>
            </a:r>
          </a:p>
          <a:p>
            <a:br/>
            <a:pPr>
              <a:defRPr sz="950">
                <a:solidFill>
                  <a:srgbClr val="F8FAFC"/>
                </a:solidFill>
              </a:defRPr>
            </a:pPr>
            <a:r>
              <a:t>• Cross-semester longitudinal retention modeling</a:t>
            </a:r>
          </a:p>
          <a:p>
            <a:br/>
            <a:pPr>
              <a:defRPr sz="950">
                <a:solidFill>
                  <a:srgbClr val="F8FAFC"/>
                </a:solidFill>
              </a:defRPr>
            </a:pPr>
            <a:r>
              <a:t>• Departmental resource allocation &amp; workload prediction</a:t>
            </a:r>
          </a:p>
          <a:p>
            <a:br/>
            <a:pPr>
              <a:defRPr sz="950">
                <a:solidFill>
                  <a:srgbClr val="F8FAFC"/>
                </a:solidFill>
              </a:defRPr>
            </a:pPr>
            <a:r>
              <a:t>• State-wide technical university deployment across KTU colleges</a:t>
            </a:r>
          </a:p>
          <a:p>
            <a:br/>
            <a:pPr>
              <a:defRPr sz="950">
                <a:solidFill>
                  <a:srgbClr val="F8FAFC"/>
                </a:solidFill>
              </a:defRPr>
            </a:pPr>
            <a:r>
              <a:t>• Federated privacy-preserving machine learning 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6366F1"/>
                </a:solidFill>
              </a:defRPr>
            </a:pPr>
            <a:r>
              <a:t>CONCLUSION &amp; JUDGE DEFENSE</a:t>
            </a:r>
          </a:p>
        </p:txBody>
      </p:sp>
      <p:sp>
        <p:nvSpPr>
          <p:cNvPr id="4" name="TextBox 3"/>
          <p:cNvSpPr txBox="1"/>
          <p:nvPr/>
        </p:nvSpPr>
        <p:spPr>
          <a:xfrm>
            <a:off x="731520" y="658368"/>
            <a:ext cx="10698480" cy="594360"/>
          </a:xfrm>
          <a:prstGeom prst="rect">
            <a:avLst/>
          </a:prstGeom>
          <a:noFill/>
        </p:spPr>
        <p:txBody>
          <a:bodyPr wrap="square">
            <a:spAutoFit/>
          </a:bodyPr>
          <a:lstStyle/>
          <a:p>
            <a:pPr>
              <a:defRPr sz="2200" b="1">
                <a:solidFill>
                  <a:srgbClr val="F8FAFC"/>
                </a:solidFill>
              </a:defRPr>
            </a:pPr>
            <a:r>
              <a:t>Why Tripwire is the Winning Educational AI Innovation</a:t>
            </a:r>
          </a:p>
          <a:p>
            <a:pPr>
              <a:defRPr sz="1150">
                <a:solidFill>
                  <a:srgbClr val="94A3B8"/>
                </a:solidFill>
              </a:defRPr>
            </a:pPr>
            <a:r>
              <a:t>Cheat-sheet answering the toughest judge questions with technical precision.</a:t>
            </a:r>
          </a:p>
        </p:txBody>
      </p:sp>
      <p:sp>
        <p:nvSpPr>
          <p:cNvPr id="5" name="Rounded Rectangle 4"/>
          <p:cNvSpPr/>
          <p:nvPr/>
        </p:nvSpPr>
        <p:spPr>
          <a:xfrm>
            <a:off x="731520" y="1463040"/>
            <a:ext cx="10728655" cy="1115568"/>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36192"/>
            <a:ext cx="10149840" cy="960120"/>
          </a:xfrm>
          <a:prstGeom prst="rect">
            <a:avLst/>
          </a:prstGeom>
          <a:noFill/>
        </p:spPr>
        <p:txBody>
          <a:bodyPr wrap="square">
            <a:spAutoFit/>
          </a:bodyPr>
          <a:lstStyle/>
          <a:p>
            <a:pPr>
              <a:defRPr sz="1200" b="1">
                <a:solidFill>
                  <a:srgbClr val="6366F1"/>
                </a:solidFill>
              </a:defRPr>
            </a:pPr>
            <a:r>
              <a:t>Q: "Why integrate with college ERPs like ETLAB instead of replacing them?"</a:t>
            </a:r>
          </a:p>
          <a:p>
            <a:pPr>
              <a:defRPr sz="950">
                <a:solidFill>
                  <a:srgbClr val="F8FAFC"/>
                </a:solidFill>
              </a:defRPr>
            </a:pPr>
            <a:r>
              <a:t>A: Colleges have years of institutional lock-in with ERPs like ETLAB. By sitting as an intelligent predictive plug-in rather than a disruptive replacement, Tripwire achieves zero-friction institutional adoption.</a:t>
            </a:r>
          </a:p>
        </p:txBody>
      </p:sp>
      <p:sp>
        <p:nvSpPr>
          <p:cNvPr id="7" name="Rounded Rectangle 6"/>
          <p:cNvSpPr/>
          <p:nvPr/>
        </p:nvSpPr>
        <p:spPr>
          <a:xfrm>
            <a:off x="731520" y="2697480"/>
            <a:ext cx="10728655" cy="1115568"/>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70632"/>
            <a:ext cx="10149840" cy="960120"/>
          </a:xfrm>
          <a:prstGeom prst="rect">
            <a:avLst/>
          </a:prstGeom>
          <a:noFill/>
        </p:spPr>
        <p:txBody>
          <a:bodyPr wrap="square">
            <a:spAutoFit/>
          </a:bodyPr>
          <a:lstStyle/>
          <a:p>
            <a:pPr>
              <a:defRPr sz="1200" b="1">
                <a:solidFill>
                  <a:srgbClr val="0EA5E9"/>
                </a:solidFill>
              </a:defRPr>
            </a:pPr>
            <a:r>
              <a:t>Q: "Why is personal velocity better than a static 75% cutoff?"</a:t>
            </a:r>
          </a:p>
          <a:p>
            <a:pPr>
              <a:defRPr sz="950">
                <a:solidFill>
                  <a:srgbClr val="F8FAFC"/>
                </a:solidFill>
              </a:defRPr>
            </a:pPr>
            <a:r>
              <a:t>A: Static cutoffs trigger alarms when it's already too late to recover. A student dropping from 98% to 76% in 2 weeks represents an acute crisis that static rules ignore until they cross 75%. Relative velocity catches the fire early.</a:t>
            </a:r>
          </a:p>
        </p:txBody>
      </p:sp>
      <p:sp>
        <p:nvSpPr>
          <p:cNvPr id="9" name="Rounded Rectangle 8"/>
          <p:cNvSpPr/>
          <p:nvPr/>
        </p:nvSpPr>
        <p:spPr>
          <a:xfrm>
            <a:off x="731520" y="3931920"/>
            <a:ext cx="10728655" cy="1115568"/>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5072"/>
            <a:ext cx="10149840" cy="960120"/>
          </a:xfrm>
          <a:prstGeom prst="rect">
            <a:avLst/>
          </a:prstGeom>
          <a:noFill/>
        </p:spPr>
        <p:txBody>
          <a:bodyPr wrap="square">
            <a:spAutoFit/>
          </a:bodyPr>
          <a:lstStyle/>
          <a:p>
            <a:pPr>
              <a:defRPr sz="1200" b="1">
                <a:solidFill>
                  <a:srgbClr val="10B981"/>
                </a:solidFill>
              </a:defRPr>
            </a:pPr>
            <a:r>
              <a:t>Q: "What prevents false alerts when a student catches the flu for 2 days?"</a:t>
            </a:r>
          </a:p>
          <a:p>
            <a:pPr>
              <a:defRPr sz="950">
                <a:solidFill>
                  <a:srgbClr val="F8FAFC"/>
                </a:solidFill>
              </a:defRPr>
            </a:pPr>
            <a:r>
              <a:t>A: Our EWMA noise-smoothing filter (alpha=0.30) mathematically suppresses transient shocks. An alert strictly requires sustained multi-week decline across multiple operational dimensions before firing.</a:t>
            </a:r>
          </a:p>
        </p:txBody>
      </p:sp>
      <p:sp>
        <p:nvSpPr>
          <p:cNvPr id="11" name="Rounded Rectangle 10"/>
          <p:cNvSpPr/>
          <p:nvPr/>
        </p:nvSpPr>
        <p:spPr>
          <a:xfrm>
            <a:off x="731520" y="5166360"/>
            <a:ext cx="10728655" cy="1115568"/>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239512"/>
            <a:ext cx="10149840" cy="960120"/>
          </a:xfrm>
          <a:prstGeom prst="rect">
            <a:avLst/>
          </a:prstGeom>
          <a:noFill/>
        </p:spPr>
        <p:txBody>
          <a:bodyPr wrap="square">
            <a:spAutoFit/>
          </a:bodyPr>
          <a:lstStyle/>
          <a:p>
            <a:pPr>
              <a:defRPr sz="1200" b="1">
                <a:solidFill>
                  <a:srgbClr val="F59E0B"/>
                </a:solidFill>
              </a:defRPr>
            </a:pPr>
            <a:r>
              <a:t>Q: "How does Tripwire protect student mental health and dignity?"</a:t>
            </a:r>
          </a:p>
          <a:p>
            <a:pPr>
              <a:defRPr sz="950">
                <a:solidFill>
                  <a:srgbClr val="F8FAFC"/>
                </a:solidFill>
              </a:defRPr>
            </a:pPr>
            <a:r>
              <a:t>A: Tripwire never shows students a demoralizing public 'At-Risk' label. Alerts are private advisory signals for mentors, paired with constructive counterfactual pathways ('attending 3 labs clears the alert') rather than punitive condemnation.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